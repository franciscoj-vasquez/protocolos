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02752" y="-2203704"/>
            <a:ext cx="6400800" cy="6400800"/>
          </a:xfrm>
          <a:prstGeom prst="ellipse">
            <a:avLst/>
          </a:prstGeom>
          <a:gradFill rotWithShape="1">
            <a:gsLst>
              <a:gs pos="0">
                <a:srgbClr val="222E54"/>
              </a:gs>
              <a:gs pos="100000">
                <a:srgbClr val="182240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02536" y="4599432"/>
            <a:ext cx="4599432" cy="4599432"/>
          </a:xfrm>
          <a:prstGeom prst="ellipse">
            <a:avLst/>
          </a:prstGeom>
          <a:gradFill rotWithShape="1">
            <a:gsLst>
              <a:gs pos="0">
                <a:srgbClr val="111830"/>
              </a:gs>
              <a:gs pos="100000">
                <a:srgbClr val="222E54"/>
              </a:gs>
            </a:gsLst>
            <a:lin scaled="0" ang="9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852928" cy="4023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93976"/>
            <a:ext cx="2852928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101F"/>
                </a:solidFill>
                <a:latin typeface="Calibri"/>
              </a:rPr>
              <a:t>TP3 · Communication Protocols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1039672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Lab 4 — 100GBASE-R PCS &amp; Multi-Lane Distribution (MLD)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977639"/>
            <a:ext cx="758952" cy="3657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23944"/>
            <a:ext cx="9400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AFC6FF"/>
                </a:solidFill>
                <a:latin typeface="Calibri"/>
              </a:rPr>
              <a:t>Vasquez Curetti, Francisco Javier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81344"/>
            <a:ext cx="10360152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7C8AAD"/>
                </a:solidFill>
                <a:latin typeface="Calibri"/>
              </a:rPr>
              <a:t>ethernet-phy-labs / lab4-pcs-mld   ·   test payload: 0xCAFE0004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IEEE 802.3 Clause 82: how real 100GBASE-R MLD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49224" y="1728216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2821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1691640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746504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Round-robin distribution. </a:t>
            </a:r>
            <a:r>
              <a:rPr sz="1450" b="0">
                <a:solidFill>
                  <a:srgbClr val="111727"/>
                </a:solidFill>
                <a:latin typeface="Calibri"/>
              </a:rPr>
              <a:t>The 66b block stream is spread across 20 Virtual Lanes (VLs) in sequence, to run over multiple physical channels (e.g. 4×25G, 10×10G).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2807208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80720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2770632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825496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Alignment Markers (AM). </a:t>
            </a:r>
            <a:r>
              <a:rPr sz="1450" b="0">
                <a:solidFill>
                  <a:srgbClr val="111727"/>
                </a:solidFill>
                <a:latin typeface="Calibri"/>
              </a:rPr>
              <a:t>Every 16383 blocks per lane, an AM replaces a real data block — a unique 66-bit pattern per lane, carrying a BIP3/BIP7 parity check.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3886200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1872" y="3849624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04487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Deskew &amp; reorder. </a:t>
            </a:r>
            <a:r>
              <a:rPr sz="1450" b="0">
                <a:solidFill>
                  <a:srgbClr val="111727"/>
                </a:solidFill>
                <a:latin typeface="Calibri"/>
              </a:rPr>
              <a:t>The receiver buffers each lane until every AM lines up, then reconstructs the single stream using the lane ID embedded in the marker.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Table 82-2 — Alignment Marker encoding per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3157" y="1572768"/>
            <a:ext cx="5265684" cy="3502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3157" y="1572768"/>
            <a:ext cx="5265684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 desde 2026-09-07 14-04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73" y="1746504"/>
            <a:ext cx="5009652" cy="3200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9224" y="5221224"/>
            <a:ext cx="1089964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5221224"/>
            <a:ext cx="64008" cy="8595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6"/>
            <a:ext cx="10442448" cy="7132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1727"/>
                </a:solidFill>
                <a:latin typeface="Calibri"/>
              </a:rPr>
              <a:t>M4=~M0, M5=~M1, M6=~M2 for every lane </a:t>
            </a:r>
            <a:r>
              <a:rPr sz="1400" b="0">
                <a:solidFill>
                  <a:srgbClr val="111727"/>
                </a:solidFill>
                <a:latin typeface="Calibri"/>
              </a:rPr>
              <a:t>(e.g. lane 0: 0xC1↔0x3E, 0x68↔0x97, 0x21↔0xDE) — each marker carries its own bitwise complement as a built-in check, on top of the BIP3/BIP7 fields.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This lab's abstraction vs. the real Clause 82 mechanism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1600200"/>
            <a:ext cx="10561319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91640"/>
          <a:ext cx="1037843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825"/>
                <a:gridCol w="3943807"/>
                <a:gridCol w="3943807"/>
              </a:tblGrid>
              <a:tr h="5410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FC6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solidFill>
                      <a:srgbClr val="222E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FC6FF"/>
                          </a:solidFill>
                          <a:latin typeface="Calibri"/>
                        </a:rPr>
                        <a:t>Real spec (Clause 82)</a:t>
                      </a:r>
                    </a:p>
                  </a:txBody>
                  <a:tcPr marL="73152" marR="73152" marT="36576" marB="36576" anchor="ctr">
                    <a:solidFill>
                      <a:srgbClr val="222E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AFC6FF"/>
                          </a:solidFill>
                          <a:latin typeface="Calibri"/>
                        </a:rPr>
                        <a:t>This lab's RTL</a:t>
                      </a:r>
                    </a:p>
                  </a:txBody>
                  <a:tcPr marL="73152" marR="73152" marT="36576" marB="36576" anchor="ctr">
                    <a:solidFill>
                      <a:srgbClr val="222E54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AM interval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every 16383 blocks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every 64 blocks (AM_INTERVAL param)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Lane data 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20 physical FIFOs, real demux + skew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1 continuous stream, blocks never split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AM insertion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replaces a real block; needs idle-rate compensation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never replaces pcs_block_out — rides alongside as sideband wires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Lane ID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implicit; decoded from the 8-byte marker itself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explicit byte inside a fixed template (0xC1+laneID+pad)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BIP3/BIP7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real running parity, detects bit errors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11727"/>
                          </a:solidFill>
                          <a:latin typeface="Calibri"/>
                        </a:rPr>
                        <a:t>not implemented — fixed 0x00/0xA5 filler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9224" y="5074920"/>
            <a:ext cx="1089964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5074920"/>
            <a:ext cx="64008" cy="100584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48072"/>
            <a:ext cx="10442448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727"/>
                </a:solidFill>
                <a:latin typeface="Calibri"/>
              </a:rPr>
              <a:t>Goal per TESTBENCH.md: teach the lane-distribution &amp; AM-timing mechanism without the rate-matching / deskew-FIFO complexity of a real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Test setup: dual-namespace TAP + traffic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649224" y="1728216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2821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1691640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746504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Two Linux network namespaces. </a:t>
            </a:r>
            <a:r>
              <a:rPr sz="1450" b="0">
                <a:solidFill>
                  <a:srgbClr val="111727"/>
                </a:solidFill>
                <a:latin typeface="Calibri"/>
              </a:rPr>
              <a:t>tap0 lives in the host namespace (10.0.0.1/24); tap1 lives inside ns_b (10.0.0.2/24). A single emulator process binds both ends via setns().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2807208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80720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2770632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825496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Build parameters. </a:t>
            </a:r>
            <a:r>
              <a:rPr sz="1450" b="0">
                <a:solidFill>
                  <a:srgbClr val="111727"/>
                </a:solidFill>
                <a:latin typeface="Calibri"/>
              </a:rPr>
              <a:t>-GAM_INTERVAL=64 -GNUM_LANES=20. FST tracing is unconditional here — dump.fst is produced on every run, no build flag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3886200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1872" y="3849624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04487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Traffic. </a:t>
            </a:r>
            <a:r>
              <a:rPr sz="1450" b="0">
                <a:solidFill>
                  <a:srgbClr val="111727"/>
                </a:solidFill>
                <a:latin typeface="Calibri"/>
              </a:rPr>
              <a:t>ping -c 5 -p cafe0004 -I tap0 10.0.0.2 — ARP + 5 ICMP echo pairs. Payload distinguishes this lab from labs 1-3 (cafe0001/2/3).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End-to-end integrity: 0% packet loss through the full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53183" y="2578810"/>
            <a:ext cx="8485632" cy="149006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53183" y="2578810"/>
            <a:ext cx="848563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 desde 2026-09-07 16-23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2752546"/>
            <a:ext cx="8229600" cy="118831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9224" y="5221224"/>
            <a:ext cx="1089964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5221224"/>
            <a:ext cx="64008" cy="8595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6"/>
            <a:ext cx="10442448" cy="7132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727"/>
                </a:solidFill>
                <a:latin typeface="Calibri"/>
              </a:rPr>
              <a:t>ICMP echo request/reply between 10.0.0.1 and 10.0.0.2, cafe0004 payload pattern, round-tripping through MAC -&gt; PCS encoder -&gt; MLD tx -&gt; MLD rx -&gt; PCS decoder -&gt; MAC on both directions.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Virtual Lane round-robin: mld_lane_id cycles 0-&gt;19 every clock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" y="2426970"/>
            <a:ext cx="10588752" cy="17937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623" y="2426970"/>
            <a:ext cx="1058875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 desde 2026-09-07 16-26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39" y="2600706"/>
            <a:ext cx="10332720" cy="14919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9224" y="5221224"/>
            <a:ext cx="1089964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5221224"/>
            <a:ext cx="64008" cy="8595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6"/>
            <a:ext cx="10442448" cy="7132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727"/>
                </a:solidFill>
                <a:latin typeface="Calibri"/>
              </a:rPr>
              <a:t>One 66-bit block dispatched per clock edge; lane_ptr wraps 19-&gt;0 with NUM_LANES=20 -- answers Q1.1/Q1.2 (sequential increment, one block per lane per cycle, no stalls).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Alignment Marker periodicity: 128 ps = 64 cycles between pulses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047" y="2816473"/>
            <a:ext cx="5193792" cy="1014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5047" y="2816473"/>
            <a:ext cx="51937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 desde 2026-09-07 16-32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63" y="2990209"/>
            <a:ext cx="4937755" cy="71298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33159" y="2816473"/>
            <a:ext cx="5193792" cy="10147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159" y="2816473"/>
            <a:ext cx="51937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ptura desde 2026-09-07 16-32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175" y="2990209"/>
            <a:ext cx="4937755" cy="7129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9224" y="5221224"/>
            <a:ext cx="1089964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" y="5221224"/>
            <a:ext cx="64008" cy="8595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94376"/>
            <a:ext cx="10442448" cy="7132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727"/>
                </a:solidFill>
                <a:latin typeface="Calibri"/>
              </a:rPr>
              <a:t>mld_is_am pulses once every AM_INTERVAL=64 cycles; the pattern byte [55:48] always mirrors the current lane (0x03 -&gt; 0x07 here) -- answers Q2.1/Q2.3.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Why VL0 and VL5 never appear at an AM pulse (Q2.2)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649224" y="1636776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63677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1600200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655064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Phase lock. </a:t>
            </a:r>
            <a:r>
              <a:rPr sz="1450" b="0">
                <a:solidFill>
                  <a:srgbClr val="111727"/>
                </a:solidFill>
                <a:latin typeface="Calibri"/>
              </a:rPr>
              <a:t>AM_INTERVAL=64 and NUM_LANES=20 share gcd=4. From the reset state, mld_is_am only ever coincides with lane_ptr ≡ 3 (mod 4).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2715768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71576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2679191"/>
            <a:ext cx="10296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734056"/>
            <a:ext cx="9966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Verified in the trace. </a:t>
            </a:r>
            <a:r>
              <a:rPr sz="1450" b="0">
                <a:solidFill>
                  <a:srgbClr val="111727"/>
                </a:solidFill>
                <a:latin typeface="Calibri"/>
              </a:rPr>
              <a:t>Pulses land on lanes {3,7,11,15,19} only, repeating every 5 pulses (320 cycles). Lanes 0 and 5 (≡0/1 mod 4) are structurally unreachable at an AM instant.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3886200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886200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1872" y="3849624"/>
            <a:ext cx="10296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904487"/>
            <a:ext cx="9966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Reported values. </a:t>
            </a:r>
            <a:r>
              <a:rPr sz="1450" b="0">
                <a:solidFill>
                  <a:srgbClr val="111727"/>
                </a:solidFill>
                <a:latin typeface="Calibri"/>
              </a:rPr>
              <a:t>VL3/VL7 are real captured evidence; VL0 (0x2C10000A5A5A5A5A5) and VL5 (0x2C10500A5A5A5A5A5) are given by formula, not captured -- a byproduct of the fixed reset phase, not a bug in the marker logic.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Real ping payload flowing untouched through the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" y="2426970"/>
            <a:ext cx="10588752" cy="17937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1623" y="2426970"/>
            <a:ext cx="1058875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ptura desde 2026-09-07 16-17-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39" y="2600706"/>
            <a:ext cx="10332720" cy="14919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9224" y="5221224"/>
            <a:ext cx="1089964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5221224"/>
            <a:ext cx="64008" cy="859536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6"/>
            <a:ext cx="10442448" cy="7132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727"/>
                </a:solidFill>
                <a:latin typeface="Calibri"/>
              </a:rPr>
              <a:t>pcs_block_out is never interrupted by the AM logic -- the ICMP payload (0xCAFE0400 pattern) flows through the same wire whether or not mld_is_am fires that cycle.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Sideband propagation tx-&gt;rx: 0-cycle delay (Task 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572768"/>
            <a:ext cx="92628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7C8AAD"/>
                </a:solidFill>
                <a:latin typeface="Calibri"/>
              </a:rPr>
              <a:t>[ Screenshot pending: mld_rx_inst_b signals @ 124-136 ps ]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" y="4151376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415137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1872" y="4114800"/>
            <a:ext cx="1029614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169663"/>
            <a:ext cx="9966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Same wire. </a:t>
            </a:r>
            <a:r>
              <a:rPr sz="1450" b="0">
                <a:solidFill>
                  <a:srgbClr val="111727"/>
                </a:solidFill>
                <a:latin typeface="Calibri"/>
              </a:rPr>
              <a:t>mld_rx_inst_b's mld_lane_id/mld_is_am/mld_am_pattern share the exact same net as mld_tx_inst_a's outputs -- confirmed via matching VCD signal IDs, no register in between.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298448"/>
          </a:xfrm>
          <a:prstGeom prst="rect">
            <a:avLst/>
          </a:prstGeom>
          <a:gradFill rotWithShape="1">
            <a:gsLst>
              <a:gs pos="0">
                <a:srgbClr val="0B101F"/>
              </a:gs>
              <a:gs pos="100000">
                <a:srgbClr val="18224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298448"/>
            <a:ext cx="2450592" cy="45720"/>
          </a:xfrm>
          <a:prstGeom prst="roundRect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71632" y="301752"/>
            <a:ext cx="987552" cy="429768"/>
          </a:xfrm>
          <a:prstGeom prst="roundRect">
            <a:avLst/>
          </a:prstGeom>
          <a:solidFill>
            <a:srgbClr val="222E54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71632" y="356616"/>
            <a:ext cx="987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AFC6FF"/>
                </a:solidFill>
                <a:latin typeface="Calibri"/>
              </a:rPr>
              <a:t>TP3 · Lab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182880"/>
            <a:ext cx="1005840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75720" y="6437376"/>
            <a:ext cx="338328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383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B667A"/>
                </a:solidFill>
                <a:latin typeface="Calibri"/>
              </a:rPr>
              <a:t>12</a:t>
            </a:r>
          </a:p>
        </p:txBody>
      </p:sp>
      <p:sp>
        <p:nvSpPr>
          <p:cNvPr id="9" name="Oval 8"/>
          <p:cNvSpPr/>
          <p:nvPr/>
        </p:nvSpPr>
        <p:spPr>
          <a:xfrm>
            <a:off x="649224" y="1728216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28216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1691640"/>
            <a:ext cx="10296144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746504"/>
            <a:ext cx="99669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Pass criterion met. </a:t>
            </a:r>
            <a:r>
              <a:rPr sz="1450" b="0">
                <a:solidFill>
                  <a:srgbClr val="111727"/>
                </a:solidFill>
                <a:latin typeface="Calibri"/>
              </a:rPr>
              <a:t>5/5 ping echoes, 0% loss, full MAC-&gt;PCS-&gt;MLD round trip in both directions.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2670048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670048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61872" y="2633472"/>
            <a:ext cx="10296144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688336"/>
            <a:ext cx="996696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Sideband abstraction understood. </a:t>
            </a:r>
            <a:r>
              <a:rPr sz="1450" b="0">
                <a:solidFill>
                  <a:srgbClr val="111727"/>
                </a:solidFill>
                <a:latin typeface="Calibri"/>
              </a:rPr>
              <a:t>Round-robin labeling + periodic AM flag never touch the real data path -- avoids the rate-matching complexity of a physical MLD implementation.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3749039"/>
            <a:ext cx="429768" cy="429768"/>
          </a:xfrm>
          <a:prstGeom prst="ellipse">
            <a:avLst/>
          </a:prstGeom>
          <a:gradFill rotWithShape="1">
            <a:gsLst>
              <a:gs pos="0">
                <a:srgbClr val="4F7CFF"/>
              </a:gs>
              <a:gs pos="100000">
                <a:srgbClr val="22D3E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749039"/>
            <a:ext cx="429768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61872" y="3712463"/>
            <a:ext cx="10296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767327"/>
            <a:ext cx="996696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111727"/>
                </a:solidFill>
                <a:latin typeface="Calibri"/>
              </a:rPr>
              <a:t>Empirical finding beyond the docs. </a:t>
            </a:r>
            <a:r>
              <a:rPr sz="1450" b="0">
                <a:solidFill>
                  <a:srgbClr val="111727"/>
                </a:solidFill>
                <a:latin typeface="Calibri"/>
              </a:rPr>
              <a:t>The AM_INTERVAL/NUM_LANES phase-lock (gcd=4) hides 15 of the 20 lanes from ever showing an AM event -- confirmed directly from the waveform trace, not stated anywhere in the assignment.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