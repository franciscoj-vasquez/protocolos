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E45A7F-BCDB-4446-934E-4CCA121D07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235B85F-206D-4AA4-B206-51F824C400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C9F39B3-0C98-4AE7-BEC0-224E0F4B4B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6AC62DB-722E-4539-8923-60D7A4D518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F410AFF-4C9B-4A3B-8F06-FD8588F823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7949E9C-D3B9-4AE1-954E-71CCC43192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7926E1F-25AE-4225-9DF2-CBFD5E6806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C34A464-3183-4957-86B7-2A45C636FF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0616B84-0F37-46A3-952D-C9767C4540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5FC1F37-3107-4F34-BB00-A7F4187DBA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A6B8E90-D463-4CB4-A4F7-386B214142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25D611-BF25-4DD3-874E-C50125191F1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F51BC84-3D6A-4996-97D3-FB46BA98FC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B79CB7C-F441-4395-BB45-3BCFA4E4A4C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6E69B9C-90A1-4DAE-8712-D6E30BEE06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14F168E-0207-48C5-9C86-BB4A0F5B6C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B5729F-4DB0-464A-B2D1-80BB65EC4B4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69BE341-3E3E-42EC-AB4A-A6CE239914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A44B2A3-E82D-4BF6-838B-1E67DA5A41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00A4031-6E63-4EEC-81BB-0E8E0E175B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C6D290C-E9ED-4655-8BFD-9B5EFAEEE5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D11175-8E3F-458C-AFEF-7925A0DEA8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47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Oval 2"/>
          <p:cNvSpPr/>
          <p:nvPr/>
        </p:nvSpPr>
        <p:spPr>
          <a:xfrm>
            <a:off x="8300160" y="-2199960"/>
            <a:ext cx="6399000" cy="6399000"/>
          </a:xfrm>
          <a:prstGeom prst="ellipse">
            <a:avLst/>
          </a:prstGeom>
          <a:gradFill rotWithShape="0">
            <a:gsLst>
              <a:gs pos="0">
                <a:srgbClr val="222e54"/>
              </a:gs>
              <a:gs pos="100000">
                <a:srgbClr val="182240"/>
              </a:gs>
            </a:gsLst>
            <a:lin ang="19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Oval 3"/>
          <p:cNvSpPr/>
          <p:nvPr/>
        </p:nvSpPr>
        <p:spPr>
          <a:xfrm>
            <a:off x="-2000160" y="4600080"/>
            <a:ext cx="4599000" cy="4599000"/>
          </a:xfrm>
          <a:prstGeom prst="ellipse">
            <a:avLst/>
          </a:prstGeom>
          <a:gradFill rotWithShape="0">
            <a:gsLst>
              <a:gs pos="0">
                <a:srgbClr val="111830"/>
              </a:gs>
              <a:gs pos="100000">
                <a:srgbClr val="222e54"/>
              </a:gs>
            </a:gsLst>
            <a:lin ang="90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Oval 4"/>
          <p:cNvSpPr/>
          <p:nvPr/>
        </p:nvSpPr>
        <p:spPr>
          <a:xfrm>
            <a:off x="9550080" y="280080"/>
            <a:ext cx="2098800" cy="2098800"/>
          </a:xfrm>
          <a:prstGeom prst="ellipse">
            <a:avLst/>
          </a:prstGeom>
          <a:noFill/>
          <a:ln w="190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" name="Rounded Rectangle 5"/>
          <p:cNvSpPr/>
          <p:nvPr/>
        </p:nvSpPr>
        <p:spPr>
          <a:xfrm>
            <a:off x="914400" y="2009880"/>
            <a:ext cx="2854800" cy="3988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914400" y="2090160"/>
            <a:ext cx="2854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b101f"/>
                </a:solidFill>
                <a:latin typeface="Calibri"/>
              </a:rPr>
              <a:t>TP3 · Communication Protocols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900000" y="2540160"/>
            <a:ext cx="10398960" cy="14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Lab 3 — PCS 64b/66b Encoding &amp; Scrambling</a:t>
            </a:r>
            <a:endParaRPr b="0" lang="es-E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Rounded Rectangle 8"/>
          <p:cNvSpPr/>
          <p:nvPr/>
        </p:nvSpPr>
        <p:spPr>
          <a:xfrm>
            <a:off x="914400" y="3980160"/>
            <a:ext cx="758880" cy="327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0880" bIns="-208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TextBox 9"/>
          <p:cNvSpPr/>
          <p:nvPr/>
        </p:nvSpPr>
        <p:spPr>
          <a:xfrm>
            <a:off x="914400" y="4119840"/>
            <a:ext cx="9398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afc6ff"/>
                </a:solidFill>
                <a:latin typeface="Calibri"/>
              </a:rPr>
              <a:t>Vasquez Curetti, Francisco Javier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14400" y="6180120"/>
            <a:ext cx="1035900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7c8aad"/>
                </a:solidFill>
                <a:latin typeface="Calibri"/>
              </a:rPr>
              <a:t>ethernet-phy-labs / lab3-pcs-64b66b   ·   test payload: 0xCAFE0003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10775880" y="29988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560160" y="240120"/>
            <a:ext cx="859896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Testbench: emulator, capture &amp; traffic generation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ounded Rectangle 6"/>
          <p:cNvSpPr/>
          <p:nvPr/>
        </p:nvSpPr>
        <p:spPr>
          <a:xfrm>
            <a:off x="11480040" y="6440040"/>
            <a:ext cx="338760" cy="31896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6000">
            <a:solidFill>
              <a:srgbClr val="e1e7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11480040" y="6459840"/>
            <a:ext cx="33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5b667a"/>
                </a:solidFill>
                <a:latin typeface="Calibri"/>
              </a:rPr>
              <a:t>2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ounded Rectangle 8"/>
          <p:cNvSpPr/>
          <p:nvPr/>
        </p:nvSpPr>
        <p:spPr>
          <a:xfrm>
            <a:off x="2886120" y="1569960"/>
            <a:ext cx="6418800" cy="3558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500">
            <a:solidFill>
              <a:srgbClr val="e1e7f0"/>
            </a:solidFill>
            <a:round/>
          </a:ln>
          <a:effectLst>
            <a:outerShdw blurRad="74880" dir="2700000" dist="25455" rotWithShape="0">
              <a:srgbClr val="0b13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ounded Rectangle 9"/>
          <p:cNvSpPr/>
          <p:nvPr/>
        </p:nvSpPr>
        <p:spPr>
          <a:xfrm>
            <a:off x="2886120" y="1569960"/>
            <a:ext cx="641880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9" name="Picture 10" descr="Captura desde 2026-08-31 12-19-09.png"/>
          <p:cNvPicPr/>
          <p:nvPr/>
        </p:nvPicPr>
        <p:blipFill>
          <a:blip r:embed="rId1"/>
          <a:stretch/>
        </p:blipFill>
        <p:spPr>
          <a:xfrm>
            <a:off x="3016080" y="1699920"/>
            <a:ext cx="6158520" cy="3299040"/>
          </a:xfrm>
          <a:prstGeom prst="rect">
            <a:avLst/>
          </a:prstGeom>
          <a:ln w="6500">
            <a:solidFill>
              <a:srgbClr val="e1e7f0"/>
            </a:solidFill>
            <a:round/>
          </a:ln>
        </p:spPr>
      </p:pic>
      <p:sp>
        <p:nvSpPr>
          <p:cNvPr id="70" name="Rounded Rectangle 11"/>
          <p:cNvSpPr/>
          <p:nvPr/>
        </p:nvSpPr>
        <p:spPr>
          <a:xfrm>
            <a:off x="650160" y="5220000"/>
            <a:ext cx="10899000" cy="85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500">
            <a:solidFill>
              <a:srgbClr val="e1e7f0"/>
            </a:solidFill>
            <a:round/>
          </a:ln>
          <a:effectLst>
            <a:outerShdw blurRad="46080" dir="2700000" dist="14255" rotWithShape="0">
              <a:srgbClr val="0b1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ounded Rectangle 12"/>
          <p:cNvSpPr/>
          <p:nvPr/>
        </p:nvSpPr>
        <p:spPr>
          <a:xfrm>
            <a:off x="650160" y="5220000"/>
            <a:ext cx="63000" cy="855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910080" y="5393160"/>
            <a:ext cx="10418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</a:rPr>
              <a:t>Phase 1 (scrambler off):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</a:rPr>
              <a:t>emulator_trace (default, no --enable-scrambler) + tcpdump -i tap0 + ping -c 2 -p cafe0003 -I tap0 10.0.0.2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10775880" y="29988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560160" y="240120"/>
            <a:ext cx="859896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Wireshark — 8 packets: ARP, two Echo pairs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6"/>
          <p:cNvSpPr/>
          <p:nvPr/>
        </p:nvSpPr>
        <p:spPr>
          <a:xfrm>
            <a:off x="11480040" y="6440040"/>
            <a:ext cx="338760" cy="31896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6000">
            <a:solidFill>
              <a:srgbClr val="e1e7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11480040" y="6459840"/>
            <a:ext cx="33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5b667a"/>
                </a:solidFill>
                <a:latin typeface="Calibri"/>
              </a:rPr>
              <a:t>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8"/>
          <p:cNvSpPr/>
          <p:nvPr/>
        </p:nvSpPr>
        <p:spPr>
          <a:xfrm>
            <a:off x="540000" y="1782000"/>
            <a:ext cx="10979280" cy="3977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500">
            <a:solidFill>
              <a:srgbClr val="e1e7f0"/>
            </a:solidFill>
            <a:round/>
          </a:ln>
          <a:effectLst>
            <a:outerShdw blurRad="74880" dir="2700000" dist="25455" rotWithShape="0">
              <a:srgbClr val="0b13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ounded Rectangle 9"/>
          <p:cNvSpPr/>
          <p:nvPr/>
        </p:nvSpPr>
        <p:spPr>
          <a:xfrm>
            <a:off x="720000" y="1782000"/>
            <a:ext cx="106192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2" name="Picture 10" descr="Captura desde 2026-08-31 12-30-54.png"/>
          <p:cNvPicPr/>
          <p:nvPr/>
        </p:nvPicPr>
        <p:blipFill>
          <a:blip r:embed="rId1"/>
          <a:stretch/>
        </p:blipFill>
        <p:spPr>
          <a:xfrm>
            <a:off x="720000" y="1980000"/>
            <a:ext cx="10619280" cy="3601800"/>
          </a:xfrm>
          <a:prstGeom prst="rect">
            <a:avLst/>
          </a:prstGeom>
          <a:ln w="6500">
            <a:solidFill>
              <a:srgbClr val="e1e7f0"/>
            </a:solidFill>
            <a:round/>
          </a:ln>
        </p:spPr>
      </p:pic>
      <p:sp>
        <p:nvSpPr>
          <p:cNvPr id="83" name="TextBox 13"/>
          <p:cNvSpPr/>
          <p:nvPr/>
        </p:nvSpPr>
        <p:spPr>
          <a:xfrm>
            <a:off x="910080" y="5280120"/>
            <a:ext cx="104187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10775880" y="29988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560160" y="240120"/>
            <a:ext cx="8598960" cy="8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Wireshark — Echo Reply: same structure, reverse direction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ounded Rectangle 6"/>
          <p:cNvSpPr/>
          <p:nvPr/>
        </p:nvSpPr>
        <p:spPr>
          <a:xfrm>
            <a:off x="11480040" y="6440040"/>
            <a:ext cx="338760" cy="31896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6000">
            <a:solidFill>
              <a:srgbClr val="e1e7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11480040" y="6459840"/>
            <a:ext cx="33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5b667a"/>
                </a:solidFill>
                <a:latin typeface="Calibri"/>
              </a:rPr>
              <a:t>4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8"/>
          <p:cNvSpPr/>
          <p:nvPr/>
        </p:nvSpPr>
        <p:spPr>
          <a:xfrm>
            <a:off x="1175760" y="1569960"/>
            <a:ext cx="9839160" cy="3508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500">
            <a:solidFill>
              <a:srgbClr val="e1e7f0"/>
            </a:solidFill>
            <a:round/>
          </a:ln>
          <a:effectLst>
            <a:outerShdw blurRad="74880" dir="2700000" dist="25455" rotWithShape="0">
              <a:srgbClr val="0b13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ounded Rectangle 9"/>
          <p:cNvSpPr/>
          <p:nvPr/>
        </p:nvSpPr>
        <p:spPr>
          <a:xfrm>
            <a:off x="1175760" y="1569960"/>
            <a:ext cx="983916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3" name="Picture 10" descr="Captura desde 2026-08-31 12-31-15.png"/>
          <p:cNvPicPr/>
          <p:nvPr/>
        </p:nvPicPr>
        <p:blipFill>
          <a:blip r:embed="rId1"/>
          <a:stretch/>
        </p:blipFill>
        <p:spPr>
          <a:xfrm>
            <a:off x="1306080" y="1699920"/>
            <a:ext cx="9579240" cy="3249000"/>
          </a:xfrm>
          <a:prstGeom prst="rect">
            <a:avLst/>
          </a:prstGeom>
          <a:ln w="6500">
            <a:solidFill>
              <a:srgbClr val="e1e7f0"/>
            </a:solidFill>
            <a:round/>
          </a:ln>
        </p:spPr>
      </p:pic>
      <p:sp>
        <p:nvSpPr>
          <p:cNvPr id="94" name="Rounded Rectangle 11"/>
          <p:cNvSpPr/>
          <p:nvPr/>
        </p:nvSpPr>
        <p:spPr>
          <a:xfrm>
            <a:off x="650160" y="5169960"/>
            <a:ext cx="10899000" cy="596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500">
            <a:solidFill>
              <a:srgbClr val="e1e7f0"/>
            </a:solidFill>
            <a:round/>
          </a:ln>
          <a:effectLst>
            <a:outerShdw blurRad="46080" dir="2700000" dist="14255" rotWithShape="0">
              <a:srgbClr val="0b1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ounded Rectangle 12"/>
          <p:cNvSpPr/>
          <p:nvPr/>
        </p:nvSpPr>
        <p:spPr>
          <a:xfrm>
            <a:off x="650160" y="5169960"/>
            <a:ext cx="63000" cy="5968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13"/>
          <p:cNvSpPr/>
          <p:nvPr/>
        </p:nvSpPr>
        <p:spPr>
          <a:xfrm>
            <a:off x="910080" y="5280120"/>
            <a:ext cx="10418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</a:rPr>
              <a:t>Src/Dst swapped  ·  ICMP type=0 (Echo Reply)  · 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</a:rPr>
              <a:t>same cafe0003 pattern in the payload.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10775880" y="29988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560160" y="240120"/>
            <a:ext cx="8598960" cy="8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64b/66b encoding: the Sync Header decides everything first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6"/>
          <p:cNvSpPr/>
          <p:nvPr/>
        </p:nvSpPr>
        <p:spPr>
          <a:xfrm>
            <a:off x="11480040" y="6440040"/>
            <a:ext cx="338760" cy="31896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6000">
            <a:solidFill>
              <a:srgbClr val="e1e7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11480040" y="6459840"/>
            <a:ext cx="3387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5b667a"/>
                </a:solidFill>
                <a:latin typeface="Calibri"/>
              </a:rPr>
              <a:t>5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ounded Rectangle 8"/>
          <p:cNvSpPr/>
          <p:nvPr/>
        </p:nvSpPr>
        <p:spPr>
          <a:xfrm>
            <a:off x="910080" y="1630080"/>
            <a:ext cx="10378800" cy="16092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7500">
            <a:solidFill>
              <a:srgbClr val="e1e7f0"/>
            </a:solidFill>
            <a:round/>
          </a:ln>
          <a:effectLst>
            <a:outerShdw blurRad="69840" dir="2700000" dist="22910" rotWithShape="0">
              <a:srgbClr val="0b133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05" name="Table 9"/>
          <p:cNvGraphicFramePr/>
          <p:nvPr/>
        </p:nvGraphicFramePr>
        <p:xfrm>
          <a:off x="1000080" y="1720080"/>
          <a:ext cx="10199160" cy="1275120"/>
        </p:xfrm>
        <a:graphic>
          <a:graphicData uri="http://schemas.openxmlformats.org/drawingml/2006/table">
            <a:tbl>
              <a:tblPr/>
              <a:tblGrid>
                <a:gridCol w="1599840"/>
                <a:gridCol w="2099880"/>
                <a:gridCol w="6499800"/>
              </a:tblGrid>
              <a:tr h="4248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Sync[1:0]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Classification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</a:tr>
              <a:tr h="424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11727"/>
                          </a:solidFill>
                          <a:latin typeface="Calibri"/>
                        </a:rPr>
                        <a:t>2'b01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11727"/>
                          </a:solidFill>
                          <a:latin typeface="Calibri"/>
                        </a:rPr>
                        <a:t>Data Block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11727"/>
                          </a:solidFill>
                          <a:latin typeface="Calibri"/>
                        </a:rPr>
                        <a:t>Pure 64-bit payload (8 octets /D0.../D7/), no Block Type Field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5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11727"/>
                          </a:solidFill>
                          <a:latin typeface="Calibri"/>
                        </a:rPr>
                        <a:t>2'b10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11727"/>
                          </a:solidFill>
                          <a:latin typeface="Calibri"/>
                        </a:rPr>
                        <a:t>Control + Data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11727"/>
                          </a:solidFill>
                          <a:latin typeface="Calibri"/>
                        </a:rPr>
                        <a:t>Combination of Data and Control bytes. Block Type field indicates the boundary.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Rounded Rectangle 10"/>
          <p:cNvSpPr/>
          <p:nvPr/>
        </p:nvSpPr>
        <p:spPr>
          <a:xfrm>
            <a:off x="650160" y="3610080"/>
            <a:ext cx="10899000" cy="70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500">
            <a:solidFill>
              <a:srgbClr val="e1e7f0"/>
            </a:solidFill>
            <a:round/>
          </a:ln>
          <a:effectLst>
            <a:outerShdw blurRad="46080" dir="2700000" dist="14255" rotWithShape="0">
              <a:srgbClr val="0b1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ounded Rectangle 11"/>
          <p:cNvSpPr/>
          <p:nvPr/>
        </p:nvSpPr>
        <p:spPr>
          <a:xfrm>
            <a:off x="650160" y="3610080"/>
            <a:ext cx="63000" cy="709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920520" y="3821760"/>
            <a:ext cx="10418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</a:rPr>
              <a:t>hdr = 2'b01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</a:rPr>
              <a:t>when cgmii_txc == 0x00 (all 8 lanes are data); </a:t>
            </a:r>
            <a:r>
              <a:rPr b="1" lang="en-US" sz="1500" spc="-1" strike="noStrike">
                <a:solidFill>
                  <a:srgbClr val="111727"/>
                </a:solidFill>
                <a:latin typeface="Calibri"/>
              </a:rPr>
              <a:t>2'b10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</a:rPr>
              <a:t>in any other case (at least one control lane).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10775880" y="29988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560160" y="240120"/>
            <a:ext cx="859896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Block Type Field — IEEE 802.3 Clause 49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6"/>
          <p:cNvSpPr/>
          <p:nvPr/>
        </p:nvSpPr>
        <p:spPr>
          <a:xfrm>
            <a:off x="11480040" y="6440040"/>
            <a:ext cx="338760" cy="31896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6000">
            <a:solidFill>
              <a:srgbClr val="e1e7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11480040" y="6459840"/>
            <a:ext cx="33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5b667a"/>
                </a:solidFill>
                <a:latin typeface="Calibri"/>
              </a:rPr>
              <a:t>6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8"/>
          <p:cNvSpPr/>
          <p:nvPr/>
        </p:nvSpPr>
        <p:spPr>
          <a:xfrm>
            <a:off x="3120840" y="1569960"/>
            <a:ext cx="5878440" cy="4909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500">
            <a:solidFill>
              <a:srgbClr val="e1e7f0"/>
            </a:solidFill>
            <a:round/>
          </a:ln>
          <a:effectLst>
            <a:outerShdw blurRad="74880" dir="2700000" dist="25455" rotWithShape="0">
              <a:srgbClr val="0b13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ounded Rectangle 9"/>
          <p:cNvSpPr/>
          <p:nvPr/>
        </p:nvSpPr>
        <p:spPr>
          <a:xfrm>
            <a:off x="3240000" y="1569960"/>
            <a:ext cx="55792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8" name="Picture 10" descr="Captura desde 2026-08-31 18-18-55.png"/>
          <p:cNvPicPr/>
          <p:nvPr/>
        </p:nvPicPr>
        <p:blipFill>
          <a:blip r:embed="rId1"/>
          <a:stretch/>
        </p:blipFill>
        <p:spPr>
          <a:xfrm>
            <a:off x="3120840" y="1699920"/>
            <a:ext cx="5861880" cy="4599360"/>
          </a:xfrm>
          <a:prstGeom prst="rect">
            <a:avLst/>
          </a:prstGeom>
          <a:ln w="6500">
            <a:solidFill>
              <a:srgbClr val="e1e7f0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10775880" y="29988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560160" y="240120"/>
            <a:ext cx="8598960" cy="8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Table 49-1 — Encoding control characters within the PCS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ounded Rectangle 6"/>
          <p:cNvSpPr/>
          <p:nvPr/>
        </p:nvSpPr>
        <p:spPr>
          <a:xfrm>
            <a:off x="11480040" y="6440040"/>
            <a:ext cx="338760" cy="31896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6000">
            <a:solidFill>
              <a:srgbClr val="e1e7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11480040" y="6459840"/>
            <a:ext cx="33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5b667a"/>
                </a:solidFill>
                <a:latin typeface="Calibri"/>
              </a:rPr>
              <a:t>7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ounded Rectangle 8"/>
          <p:cNvSpPr/>
          <p:nvPr/>
        </p:nvSpPr>
        <p:spPr>
          <a:xfrm>
            <a:off x="3120840" y="1569960"/>
            <a:ext cx="5878440" cy="4549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500">
            <a:solidFill>
              <a:srgbClr val="e1e7f0"/>
            </a:solidFill>
            <a:round/>
          </a:ln>
          <a:effectLst>
            <a:outerShdw blurRad="74880" dir="2700000" dist="25455" rotWithShape="0">
              <a:srgbClr val="0b13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ounded Rectangle 9"/>
          <p:cNvSpPr/>
          <p:nvPr/>
        </p:nvSpPr>
        <p:spPr>
          <a:xfrm>
            <a:off x="3480840" y="1569960"/>
            <a:ext cx="522900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8" name="Picture 10" descr="Captura desde 2026-08-31 18-19-07.png"/>
          <p:cNvPicPr/>
          <p:nvPr/>
        </p:nvPicPr>
        <p:blipFill>
          <a:blip r:embed="rId1"/>
          <a:stretch/>
        </p:blipFill>
        <p:spPr>
          <a:xfrm>
            <a:off x="3240000" y="1699920"/>
            <a:ext cx="5632560" cy="4419360"/>
          </a:xfrm>
          <a:prstGeom prst="rect">
            <a:avLst/>
          </a:prstGeom>
          <a:ln w="6500">
            <a:solidFill>
              <a:srgbClr val="e1e7f0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10775880" y="29988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560160" y="240120"/>
            <a:ext cx="859896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GTKWave — Idle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8"/>
          <p:cNvSpPr/>
          <p:nvPr/>
        </p:nvSpPr>
        <p:spPr>
          <a:xfrm>
            <a:off x="983160" y="1569960"/>
            <a:ext cx="10224720" cy="280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500">
            <a:solidFill>
              <a:srgbClr val="e1e7f0"/>
            </a:solidFill>
            <a:round/>
          </a:ln>
          <a:effectLst>
            <a:outerShdw blurRad="74880" dir="2700000" dist="25455" rotWithShape="0">
              <a:srgbClr val="0b13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Rounded Rectangle 9"/>
          <p:cNvSpPr/>
          <p:nvPr/>
        </p:nvSpPr>
        <p:spPr>
          <a:xfrm>
            <a:off x="983160" y="1569960"/>
            <a:ext cx="1022472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6" name="Picture 10" descr="Captura desde 2026-08-31 13-24-57.png"/>
          <p:cNvPicPr/>
          <p:nvPr/>
        </p:nvPicPr>
        <p:blipFill>
          <a:blip r:embed="rId1"/>
          <a:stretch/>
        </p:blipFill>
        <p:spPr>
          <a:xfrm>
            <a:off x="1113120" y="1699920"/>
            <a:ext cx="9964800" cy="2548800"/>
          </a:xfrm>
          <a:prstGeom prst="rect">
            <a:avLst/>
          </a:prstGeom>
          <a:ln w="6500">
            <a:solidFill>
              <a:srgbClr val="e1e7f0"/>
            </a:solidFill>
            <a:round/>
          </a:ln>
        </p:spPr>
      </p:pic>
      <p:sp>
        <p:nvSpPr>
          <p:cNvPr id="137" name="Rounded Rectangle 11"/>
          <p:cNvSpPr/>
          <p:nvPr/>
        </p:nvSpPr>
        <p:spPr>
          <a:xfrm>
            <a:off x="650160" y="4520160"/>
            <a:ext cx="10899000" cy="85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500">
            <a:solidFill>
              <a:srgbClr val="e1e7f0"/>
            </a:solidFill>
            <a:round/>
          </a:ln>
          <a:effectLst>
            <a:outerShdw blurRad="46080" dir="2700000" dist="14255" rotWithShape="0">
              <a:srgbClr val="0b1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ounded Rectangle 12"/>
          <p:cNvSpPr/>
          <p:nvPr/>
        </p:nvSpPr>
        <p:spPr>
          <a:xfrm>
            <a:off x="650160" y="4520160"/>
            <a:ext cx="63000" cy="855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1"/>
          <p:cNvSpPr/>
          <p:nvPr/>
        </p:nvSpPr>
        <p:spPr>
          <a:xfrm>
            <a:off x="920520" y="4721760"/>
            <a:ext cx="10418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Compression: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/I/ (0x07) → 0x00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Framing: 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sync = 10 ; BTF = 0x1E → All control characters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10775880" y="29988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560160" y="240120"/>
            <a:ext cx="859896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GTKWave — Start /S/ 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11480040" y="6459840"/>
            <a:ext cx="33876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ounded Rectangle 8"/>
          <p:cNvSpPr/>
          <p:nvPr/>
        </p:nvSpPr>
        <p:spPr>
          <a:xfrm>
            <a:off x="816120" y="1569960"/>
            <a:ext cx="10558800" cy="151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500">
            <a:solidFill>
              <a:srgbClr val="e1e7f0"/>
            </a:solidFill>
            <a:round/>
          </a:ln>
          <a:effectLst>
            <a:outerShdw blurRad="74880" dir="2700000" dist="25455" rotWithShape="0">
              <a:srgbClr val="0b13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ounded Rectangle 9"/>
          <p:cNvSpPr/>
          <p:nvPr/>
        </p:nvSpPr>
        <p:spPr>
          <a:xfrm>
            <a:off x="816120" y="1569960"/>
            <a:ext cx="1055880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8" name="Picture 10" descr="Captura desde 2026-08-31 13-26-47.png"/>
          <p:cNvPicPr/>
          <p:nvPr/>
        </p:nvPicPr>
        <p:blipFill>
          <a:blip r:embed="rId1"/>
          <a:stretch/>
        </p:blipFill>
        <p:spPr>
          <a:xfrm>
            <a:off x="946080" y="1699920"/>
            <a:ext cx="10298880" cy="1251720"/>
          </a:xfrm>
          <a:prstGeom prst="rect">
            <a:avLst/>
          </a:prstGeom>
          <a:ln w="6500">
            <a:solidFill>
              <a:srgbClr val="e1e7f0"/>
            </a:solidFill>
            <a:round/>
          </a:ln>
        </p:spPr>
      </p:pic>
      <p:sp>
        <p:nvSpPr>
          <p:cNvPr id="149" name="Rounded Rectangle 11"/>
          <p:cNvSpPr/>
          <p:nvPr/>
        </p:nvSpPr>
        <p:spPr>
          <a:xfrm>
            <a:off x="650160" y="3222720"/>
            <a:ext cx="10899000" cy="85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500">
            <a:solidFill>
              <a:srgbClr val="e1e7f0"/>
            </a:solidFill>
            <a:round/>
          </a:ln>
          <a:effectLst>
            <a:outerShdw blurRad="46080" dir="2700000" dist="14255" rotWithShape="0">
              <a:srgbClr val="0b1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ounded Rectangle 12"/>
          <p:cNvSpPr/>
          <p:nvPr/>
        </p:nvSpPr>
        <p:spPr>
          <a:xfrm>
            <a:off x="650160" y="3222720"/>
            <a:ext cx="63000" cy="855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910080" y="3332880"/>
            <a:ext cx="10418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Start (/S/):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(0xFB) is dropped entirely – its presence is now implicit in sync=10 and BTF=0x78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Preamble + SFD: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marked as data, so they pass through into raw_payload unchanged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ounded Rectangle 1"/>
          <p:cNvSpPr/>
          <p:nvPr/>
        </p:nvSpPr>
        <p:spPr>
          <a:xfrm>
            <a:off x="620280" y="4320000"/>
            <a:ext cx="10899000" cy="719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500">
            <a:solidFill>
              <a:srgbClr val="e1e7f0"/>
            </a:solidFill>
            <a:round/>
          </a:ln>
          <a:effectLst>
            <a:outerShdw blurRad="46080" dir="2700000" dist="14255" rotWithShape="0">
              <a:srgbClr val="0b1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Rounded Rectangle 4"/>
          <p:cNvSpPr/>
          <p:nvPr/>
        </p:nvSpPr>
        <p:spPr>
          <a:xfrm flipH="1">
            <a:off x="626400" y="4320000"/>
            <a:ext cx="92160" cy="7192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"/>
          <p:cNvSpPr/>
          <p:nvPr/>
        </p:nvSpPr>
        <p:spPr>
          <a:xfrm>
            <a:off x="900000" y="4508640"/>
            <a:ext cx="835344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Next block: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txc=0x00 (no control lanes) → hdr flips to 01, no BTF at all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10775880" y="29988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560160" y="240120"/>
            <a:ext cx="859896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GTKWave — Data blocks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ounded Rectangle 8"/>
          <p:cNvSpPr/>
          <p:nvPr/>
        </p:nvSpPr>
        <p:spPr>
          <a:xfrm>
            <a:off x="816120" y="1569960"/>
            <a:ext cx="10558800" cy="151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500">
            <a:solidFill>
              <a:srgbClr val="e1e7f0"/>
            </a:solidFill>
            <a:round/>
          </a:ln>
          <a:effectLst>
            <a:outerShdw blurRad="74880" dir="2700000" dist="25455" rotWithShape="0">
              <a:srgbClr val="0b13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Rounded Rectangle 9"/>
          <p:cNvSpPr/>
          <p:nvPr/>
        </p:nvSpPr>
        <p:spPr>
          <a:xfrm>
            <a:off x="816120" y="1569960"/>
            <a:ext cx="1055880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2" name="Picture 10" descr="Captura desde 2026-08-31 13-34-11.png"/>
          <p:cNvPicPr/>
          <p:nvPr/>
        </p:nvPicPr>
        <p:blipFill>
          <a:blip r:embed="rId1"/>
          <a:stretch/>
        </p:blipFill>
        <p:spPr>
          <a:xfrm>
            <a:off x="946080" y="1699920"/>
            <a:ext cx="10298880" cy="1251720"/>
          </a:xfrm>
          <a:prstGeom prst="rect">
            <a:avLst/>
          </a:prstGeom>
          <a:ln w="6500">
            <a:solidFill>
              <a:srgbClr val="e1e7f0"/>
            </a:solidFill>
            <a:round/>
          </a:ln>
        </p:spPr>
      </p:pic>
      <p:sp>
        <p:nvSpPr>
          <p:cNvPr id="163" name="Rounded Rectangle 11"/>
          <p:cNvSpPr/>
          <p:nvPr/>
        </p:nvSpPr>
        <p:spPr>
          <a:xfrm>
            <a:off x="650160" y="3222720"/>
            <a:ext cx="10899000" cy="85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500">
            <a:solidFill>
              <a:srgbClr val="e1e7f0"/>
            </a:solidFill>
            <a:round/>
          </a:ln>
          <a:effectLst>
            <a:outerShdw blurRad="46080" dir="2700000" dist="14255" rotWithShape="0">
              <a:srgbClr val="0b1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Rounded Rectangle 12"/>
          <p:cNvSpPr/>
          <p:nvPr/>
        </p:nvSpPr>
        <p:spPr>
          <a:xfrm>
            <a:off x="650160" y="3222720"/>
            <a:ext cx="63000" cy="855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13"/>
          <p:cNvSpPr/>
          <p:nvPr/>
        </p:nvSpPr>
        <p:spPr>
          <a:xfrm>
            <a:off x="910080" y="3332880"/>
            <a:ext cx="10418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</a:rPr>
              <a:t>txc=00  →  hdr=2'b01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</a:rPr>
              <a:t>(pure Data, no BTF). raw_payload=FECA0300FECA0000 / FECA0300FECA0300 — the same cafe0003 seen in the Wireshark hex dump.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10775880" y="29988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5"/>
          <p:cNvSpPr/>
          <p:nvPr/>
        </p:nvSpPr>
        <p:spPr>
          <a:xfrm>
            <a:off x="560160" y="240120"/>
            <a:ext cx="859896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GTKWave — Terminate /T/ &amp; BTF selection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 8"/>
          <p:cNvSpPr/>
          <p:nvPr/>
        </p:nvSpPr>
        <p:spPr>
          <a:xfrm>
            <a:off x="816120" y="1569960"/>
            <a:ext cx="10558800" cy="151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500">
            <a:solidFill>
              <a:srgbClr val="e1e7f0"/>
            </a:solidFill>
            <a:round/>
          </a:ln>
          <a:effectLst>
            <a:outerShdw blurRad="74880" dir="2700000" dist="25455" rotWithShape="0">
              <a:srgbClr val="0b13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ounded Rectangle 9"/>
          <p:cNvSpPr/>
          <p:nvPr/>
        </p:nvSpPr>
        <p:spPr>
          <a:xfrm>
            <a:off x="816120" y="1569960"/>
            <a:ext cx="1055880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3" name="Picture 10" descr="Captura desde 2026-08-31 13-27-47.png"/>
          <p:cNvPicPr/>
          <p:nvPr/>
        </p:nvPicPr>
        <p:blipFill>
          <a:blip r:embed="rId1"/>
          <a:stretch/>
        </p:blipFill>
        <p:spPr>
          <a:xfrm>
            <a:off x="946080" y="1699920"/>
            <a:ext cx="10298880" cy="1251720"/>
          </a:xfrm>
          <a:prstGeom prst="rect">
            <a:avLst/>
          </a:prstGeom>
          <a:ln w="6500">
            <a:solidFill>
              <a:srgbClr val="e1e7f0"/>
            </a:solidFill>
            <a:round/>
          </a:ln>
        </p:spPr>
      </p:pic>
      <p:sp>
        <p:nvSpPr>
          <p:cNvPr id="174" name="Rounded Rectangle 11"/>
          <p:cNvSpPr/>
          <p:nvPr/>
        </p:nvSpPr>
        <p:spPr>
          <a:xfrm>
            <a:off x="650160" y="3222720"/>
            <a:ext cx="10899000" cy="85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500">
            <a:solidFill>
              <a:srgbClr val="e1e7f0"/>
            </a:solidFill>
            <a:round/>
          </a:ln>
          <a:effectLst>
            <a:outerShdw blurRad="46080" dir="2700000" dist="14255" rotWithShape="0">
              <a:srgbClr val="0b1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ounded Rectangle 12"/>
          <p:cNvSpPr/>
          <p:nvPr/>
        </p:nvSpPr>
        <p:spPr>
          <a:xfrm>
            <a:off x="650160" y="3222720"/>
            <a:ext cx="63000" cy="855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900000" y="3461040"/>
            <a:ext cx="10418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</a:rPr>
              <a:t>/T/=0xFD landed on lane 6  →  txc=0xC0, sync= 10, BTF=0xE1.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</a:rPr>
              <a:t>See Table in Slide 6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4"/>
          <p:cNvSpPr/>
          <p:nvPr/>
        </p:nvSpPr>
        <p:spPr>
          <a:xfrm>
            <a:off x="10775880" y="36000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5"/>
          <p:cNvSpPr/>
          <p:nvPr/>
        </p:nvSpPr>
        <p:spPr>
          <a:xfrm>
            <a:off x="560160" y="240120"/>
            <a:ext cx="859896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Self-synchronizing scrambler: G(x) = x^58 + x^39 + 1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Oval 8"/>
          <p:cNvSpPr/>
          <p:nvPr/>
        </p:nvSpPr>
        <p:spPr>
          <a:xfrm>
            <a:off x="650160" y="1640160"/>
            <a:ext cx="428760" cy="428760"/>
          </a:xfrm>
          <a:prstGeom prst="ellipse">
            <a:avLst/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89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9"/>
          <p:cNvSpPr/>
          <p:nvPr/>
        </p:nvSpPr>
        <p:spPr>
          <a:xfrm>
            <a:off x="1260000" y="1599840"/>
            <a:ext cx="10299240" cy="1099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000">
            <a:solidFill>
              <a:srgbClr val="e1e7f0"/>
            </a:solidFill>
            <a:round/>
          </a:ln>
          <a:effectLst>
            <a:outerShdw blurRad="39960" dir="2700000" dist="13237" rotWithShape="0">
              <a:srgbClr val="0b133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1419840" y="1620000"/>
            <a:ext cx="9948960" cy="87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8000"/>
              </a:lnSpc>
            </a:pPr>
            <a:r>
              <a:rPr b="0" lang="en-US" sz="1600" spc="-1" strike="noStrike">
                <a:solidFill>
                  <a:srgbClr val="111727"/>
                </a:solidFill>
                <a:latin typeface="Calibri"/>
              </a:rPr>
              <a:t>Why to scramble? High-speed serial links require sufficient bit-transition density for clock recovery. Idle, Start, and Terminate blocks sometimes are the worst case: short, repetitive, and filled with zeros patterns.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Oval 11"/>
          <p:cNvSpPr/>
          <p:nvPr/>
        </p:nvSpPr>
        <p:spPr>
          <a:xfrm>
            <a:off x="650880" y="3060000"/>
            <a:ext cx="428760" cy="428760"/>
          </a:xfrm>
          <a:prstGeom prst="ellipse">
            <a:avLst/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89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ounded Rectangle 12"/>
          <p:cNvSpPr/>
          <p:nvPr/>
        </p:nvSpPr>
        <p:spPr>
          <a:xfrm>
            <a:off x="1251000" y="2988720"/>
            <a:ext cx="10298880" cy="66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000">
            <a:solidFill>
              <a:srgbClr val="e1e7f0"/>
            </a:solidFill>
            <a:round/>
          </a:ln>
          <a:effectLst>
            <a:outerShdw blurRad="39960" dir="2700000" dist="13237" rotWithShape="0">
              <a:srgbClr val="0b133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13"/>
          <p:cNvSpPr/>
          <p:nvPr/>
        </p:nvSpPr>
        <p:spPr>
          <a:xfrm>
            <a:off x="1251000" y="3042000"/>
            <a:ext cx="994896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8000"/>
              </a:lnSpc>
            </a:pPr>
            <a:r>
              <a:rPr b="0" lang="en-US" sz="1600" spc="-1" strike="noStrike">
                <a:solidFill>
                  <a:srgbClr val="111727"/>
                </a:solidFill>
                <a:latin typeface="Calibri"/>
              </a:rPr>
              <a:t>How to encode? A LFSR — G(x) = x⁵⁸ + x³⁹ + 1 — XORs the 64-bit payload against a pseudo-random sequence derived from a fixed seed shared by both ends.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Oval 14"/>
          <p:cNvSpPr/>
          <p:nvPr/>
        </p:nvSpPr>
        <p:spPr>
          <a:xfrm>
            <a:off x="650520" y="4070520"/>
            <a:ext cx="428760" cy="428760"/>
          </a:xfrm>
          <a:prstGeom prst="ellipse">
            <a:avLst/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89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ounded Rectangle 21"/>
          <p:cNvSpPr/>
          <p:nvPr/>
        </p:nvSpPr>
        <p:spPr>
          <a:xfrm>
            <a:off x="1260000" y="3960000"/>
            <a:ext cx="10298880" cy="66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000">
            <a:solidFill>
              <a:srgbClr val="e1e7f0"/>
            </a:solidFill>
            <a:round/>
          </a:ln>
          <a:effectLst>
            <a:outerShdw blurRad="39960" dir="2700000" dist="13237" rotWithShape="0">
              <a:srgbClr val="0b133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22"/>
          <p:cNvSpPr/>
          <p:nvPr/>
        </p:nvSpPr>
        <p:spPr>
          <a:xfrm>
            <a:off x="1260000" y="3960000"/>
            <a:ext cx="994896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8000"/>
              </a:lnSpc>
            </a:pPr>
            <a:r>
              <a:rPr b="0" lang="en-US" sz="1600" spc="-1" strike="noStrike">
                <a:solidFill>
                  <a:srgbClr val="111727"/>
                </a:solidFill>
                <a:latin typeface="Calibri"/>
                <a:ea typeface="Noto Sans CJK SC"/>
              </a:rPr>
              <a:t>Sync header is not scrambled — it must stay a it is so the receiver can manage to </a:t>
            </a:r>
            <a:r>
              <a:rPr b="0" lang="en-US" sz="1600" spc="-1" strike="noStrike">
                <a:solidFill>
                  <a:srgbClr val="111727"/>
                </a:solidFill>
                <a:latin typeface="Calibri"/>
                <a:ea typeface="Noto Sans CJK SC"/>
              </a:rPr>
              <a:t>	</a:t>
            </a:r>
            <a:r>
              <a:rPr b="0" lang="en-US" sz="1600" spc="-1" strike="noStrike">
                <a:solidFill>
                  <a:srgbClr val="111727"/>
                </a:solidFill>
                <a:latin typeface="Calibri"/>
                <a:ea typeface="Noto Sans CJK SC"/>
              </a:rPr>
              <a:t>achieve block alignment before descrambling 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040" cy="1298880"/>
          </a:xfrm>
          <a:prstGeom prst="rect">
            <a:avLst/>
          </a:prstGeom>
          <a:gradFill rotWithShape="0">
            <a:gsLst>
              <a:gs pos="0">
                <a:srgbClr val="0b101f"/>
              </a:gs>
              <a:gs pos="100000">
                <a:srgbClr val="182240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ounded Rectangle 2"/>
          <p:cNvSpPr/>
          <p:nvPr/>
        </p:nvSpPr>
        <p:spPr>
          <a:xfrm>
            <a:off x="0" y="1299960"/>
            <a:ext cx="244908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Rounded Rectangle 3"/>
          <p:cNvSpPr/>
          <p:nvPr/>
        </p:nvSpPr>
        <p:spPr>
          <a:xfrm>
            <a:off x="10775880" y="299880"/>
            <a:ext cx="984960" cy="428760"/>
          </a:xfrm>
          <a:prstGeom prst="roundRect">
            <a:avLst>
              <a:gd name="adj" fmla="val 50000"/>
            </a:avLst>
          </a:prstGeom>
          <a:solidFill>
            <a:srgbClr val="222e54"/>
          </a:solidFill>
          <a:ln w="8500">
            <a:solidFill>
              <a:srgbClr val="4f7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10775880" y="299880"/>
            <a:ext cx="98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afc6ff"/>
                </a:solidFill>
                <a:latin typeface="Calibri"/>
              </a:rPr>
              <a:t>TP3 · Lab 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5"/>
          <p:cNvSpPr/>
          <p:nvPr/>
        </p:nvSpPr>
        <p:spPr>
          <a:xfrm>
            <a:off x="560160" y="240120"/>
            <a:ext cx="8598960" cy="8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3000"/>
              </a:lnSpc>
            </a:pPr>
            <a:r>
              <a:rPr b="1" lang="en-US" sz="2500" spc="-1" strike="noStrike">
                <a:solidFill>
                  <a:srgbClr val="ffffff"/>
                </a:solidFill>
                <a:latin typeface="Calibri"/>
              </a:rPr>
              <a:t>GTKWave — Scrambler active: payload randomization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ounded Rectangle 8"/>
          <p:cNvSpPr/>
          <p:nvPr/>
        </p:nvSpPr>
        <p:spPr>
          <a:xfrm>
            <a:off x="720000" y="1620000"/>
            <a:ext cx="10799280" cy="2328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500">
            <a:solidFill>
              <a:srgbClr val="e1e7f0"/>
            </a:solidFill>
            <a:round/>
          </a:ln>
          <a:effectLst>
            <a:outerShdw blurRad="74880" dir="2700000" dist="25455" rotWithShape="0">
              <a:srgbClr val="0b13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Rounded Rectangle 9"/>
          <p:cNvSpPr/>
          <p:nvPr/>
        </p:nvSpPr>
        <p:spPr>
          <a:xfrm>
            <a:off x="816120" y="1569960"/>
            <a:ext cx="10558800" cy="46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ounded Rectangle 11"/>
          <p:cNvSpPr/>
          <p:nvPr/>
        </p:nvSpPr>
        <p:spPr>
          <a:xfrm>
            <a:off x="735480" y="4184640"/>
            <a:ext cx="10784160" cy="85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500">
            <a:solidFill>
              <a:srgbClr val="e1e7f0"/>
            </a:solidFill>
            <a:round/>
          </a:ln>
          <a:effectLst>
            <a:outerShdw blurRad="46080" dir="2700000" dist="14255" rotWithShape="0">
              <a:srgbClr val="0b1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Rounded Rectangle 12"/>
          <p:cNvSpPr/>
          <p:nvPr/>
        </p:nvSpPr>
        <p:spPr>
          <a:xfrm>
            <a:off x="735120" y="4184640"/>
            <a:ext cx="63000" cy="855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13"/>
          <p:cNvSpPr/>
          <p:nvPr/>
        </p:nvSpPr>
        <p:spPr>
          <a:xfrm>
            <a:off x="910080" y="4119480"/>
            <a:ext cx="10418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</a:rPr>
              <a:t>Same instant:  raw_payload=FECA0300FECA0000  vs  payload=ACCE46A3953FC9CC.  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</a:rPr>
              <a:t>The first is recognizable (from cafe0003), the second shows no visible pattern. Sync header is not scrambled.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816120" y="1980000"/>
            <a:ext cx="10474920" cy="1617120"/>
          </a:xfrm>
          <a:prstGeom prst="rect">
            <a:avLst/>
          </a:prstGeom>
          <a:ln w="0">
            <a:noFill/>
          </a:ln>
        </p:spPr>
      </p:pic>
      <p:sp>
        <p:nvSpPr>
          <p:cNvPr id="202" name="Rounded Rectangle 7"/>
          <p:cNvSpPr/>
          <p:nvPr/>
        </p:nvSpPr>
        <p:spPr>
          <a:xfrm>
            <a:off x="720000" y="5220000"/>
            <a:ext cx="10784160" cy="85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500">
            <a:solidFill>
              <a:srgbClr val="e1e7f0"/>
            </a:solidFill>
            <a:round/>
          </a:ln>
          <a:effectLst>
            <a:outerShdw blurRad="46080" dir="2700000" dist="14255" rotWithShape="0">
              <a:srgbClr val="0b1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Rounded Rectangle 13"/>
          <p:cNvSpPr/>
          <p:nvPr/>
        </p:nvSpPr>
        <p:spPr>
          <a:xfrm>
            <a:off x="720000" y="5220000"/>
            <a:ext cx="63000" cy="855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7cff"/>
              </a:gs>
              <a:gs pos="100000">
                <a:srgbClr val="22d3ee"/>
              </a:gs>
            </a:gsLst>
            <a:lin ang="162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"/>
          <p:cNvSpPr/>
          <p:nvPr/>
        </p:nvSpPr>
        <p:spPr>
          <a:xfrm>
            <a:off x="900000" y="5400000"/>
            <a:ext cx="1207188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descram_payload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 matches </a:t>
            </a:r>
            <a:r>
              <a:rPr b="1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raw_payload</a:t>
            </a:r>
            <a:r>
              <a:rPr b="0" lang="en-US" sz="1500" spc="-1" strike="noStrike">
                <a:solidFill>
                  <a:srgbClr val="111727"/>
                </a:solidFill>
                <a:latin typeface="Calibri"/>
                <a:ea typeface="Noto Sans CJK SC"/>
              </a:rPr>
              <a:t>. Node B's LFSR correctly reconstructs the payload before scrambling.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2026-09-01T10:33:57Z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