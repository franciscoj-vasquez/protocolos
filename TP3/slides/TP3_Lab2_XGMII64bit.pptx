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B10EEA-FFF6-49FB-BF0F-631CEDDB2E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2505D9-F3ED-475E-A0EC-41E5826A32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6E3C68-0EE2-491B-89F6-F5FCC0B7FE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1CF82F-C8F9-41BC-9958-5A0A7AA33A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/>
          <p:nvPr/>
        </p:nvSpPr>
        <p:spPr>
          <a:xfrm>
            <a:off x="4417200" y="2103120"/>
            <a:ext cx="33256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2"/>
          <p:cNvSpPr/>
          <p:nvPr/>
        </p:nvSpPr>
        <p:spPr>
          <a:xfrm>
            <a:off x="914400" y="2560320"/>
            <a:ext cx="10331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Lab 2 - 64-bit XGMII Interface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914400" y="3794760"/>
            <a:ext cx="10331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c9d6e8"/>
                </a:solidFill>
                <a:latin typeface="Calibri"/>
                <a:ea typeface="DejaVu Sans"/>
              </a:rPr>
              <a:t>Vasquez Curetti Francisco Javier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932760" y="2487240"/>
            <a:ext cx="1278720" cy="4932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" name="TextBox 5"/>
          <p:cNvSpPr/>
          <p:nvPr/>
        </p:nvSpPr>
        <p:spPr>
          <a:xfrm>
            <a:off x="3462480" y="6126480"/>
            <a:ext cx="5235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e9bb5"/>
                </a:solidFill>
                <a:latin typeface="Calibri"/>
                <a:ea typeface="DejaVu Sans"/>
              </a:rPr>
              <a:t>ethernet-phy-labs / lab2-xgmii-64bit   .   test payload: 0xCAFE0001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/>
        </p:nvSpPr>
        <p:spPr>
          <a:xfrm>
            <a:off x="0" y="0"/>
            <a:ext cx="12190320" cy="1022760"/>
          </a:xfrm>
          <a:prstGeom prst="rect">
            <a:avLst/>
          </a:prstGeom>
          <a:solidFill>
            <a:srgbClr val="1b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" name="Rectangle 2"/>
          <p:cNvSpPr/>
          <p:nvPr/>
        </p:nvSpPr>
        <p:spPr>
          <a:xfrm>
            <a:off x="0" y="1024200"/>
            <a:ext cx="12190320" cy="4284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4491000" y="128160"/>
            <a:ext cx="2842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 - Lab 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4"/>
          <p:cNvSpPr/>
          <p:nvPr/>
        </p:nvSpPr>
        <p:spPr>
          <a:xfrm>
            <a:off x="502920" y="219600"/>
            <a:ext cx="1081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Testbench: emulator, capture and traffic generation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5"/>
          <p:cNvSpPr/>
          <p:nvPr/>
        </p:nvSpPr>
        <p:spPr>
          <a:xfrm>
            <a:off x="11512800" y="6473880"/>
            <a:ext cx="259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  <a:ea typeface="DejaVu Sans"/>
              </a:rPr>
              <a:t>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Picture 6" descr="Captura desde 2026-08-24 18-23-54.png"/>
          <p:cNvPicPr/>
          <p:nvPr/>
        </p:nvPicPr>
        <p:blipFill>
          <a:blip r:embed="rId1"/>
          <a:stretch/>
        </p:blipFill>
        <p:spPr>
          <a:xfrm>
            <a:off x="1738440" y="1298520"/>
            <a:ext cx="8683200" cy="4296240"/>
          </a:xfrm>
          <a:prstGeom prst="rect">
            <a:avLst/>
          </a:prstGeom>
          <a:ln w="15840">
            <a:solidFill>
              <a:srgbClr val="c7ccd1"/>
            </a:solidFill>
            <a:round/>
          </a:ln>
        </p:spPr>
      </p:pic>
      <p:sp>
        <p:nvSpPr>
          <p:cNvPr id="23" name="TextBox 7"/>
          <p:cNvSpPr/>
          <p:nvPr/>
        </p:nvSpPr>
        <p:spPr>
          <a:xfrm>
            <a:off x="548640" y="5888880"/>
            <a:ext cx="1109304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While [EMULADOR LAB 2] Running 64-bit XGMII...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ping -c 2 -p cafe0001 -I tap0 10.0.0.2 → tcpdump: 8 packets captured on tap0.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/>
        </p:nvSpPr>
        <p:spPr>
          <a:xfrm>
            <a:off x="0" y="0"/>
            <a:ext cx="12190320" cy="1022760"/>
          </a:xfrm>
          <a:prstGeom prst="rect">
            <a:avLst/>
          </a:prstGeom>
          <a:solidFill>
            <a:srgbClr val="1b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" name="Rectangle 2"/>
          <p:cNvSpPr/>
          <p:nvPr/>
        </p:nvSpPr>
        <p:spPr>
          <a:xfrm>
            <a:off x="0" y="1024200"/>
            <a:ext cx="12190320" cy="4284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" name="TextBox 3"/>
          <p:cNvSpPr/>
          <p:nvPr/>
        </p:nvSpPr>
        <p:spPr>
          <a:xfrm>
            <a:off x="4491000" y="128160"/>
            <a:ext cx="2842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 - Lab 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502920" y="219600"/>
            <a:ext cx="1081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Wireshark - Echo Request/Reply, EtherType and payload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5"/>
          <p:cNvSpPr/>
          <p:nvPr/>
        </p:nvSpPr>
        <p:spPr>
          <a:xfrm>
            <a:off x="11512800" y="6473880"/>
            <a:ext cx="259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  <a:ea typeface="DejaVu Sans"/>
              </a:rPr>
              <a:t>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Picture 6" descr="Captura desde 2026-08-24 18-26-04.png"/>
          <p:cNvPicPr/>
          <p:nvPr/>
        </p:nvPicPr>
        <p:blipFill>
          <a:blip r:embed="rId1"/>
          <a:stretch/>
        </p:blipFill>
        <p:spPr>
          <a:xfrm>
            <a:off x="1461240" y="1298520"/>
            <a:ext cx="9237600" cy="4570560"/>
          </a:xfrm>
          <a:prstGeom prst="rect">
            <a:avLst/>
          </a:prstGeom>
          <a:ln w="15840">
            <a:solidFill>
              <a:srgbClr val="c7ccd1"/>
            </a:solidFill>
            <a:round/>
          </a:ln>
        </p:spPr>
      </p:pic>
      <p:sp>
        <p:nvSpPr>
          <p:cNvPr id="30" name="TextBox 7"/>
          <p:cNvSpPr/>
          <p:nvPr/>
        </p:nvSpPr>
        <p:spPr>
          <a:xfrm>
            <a:off x="548640" y="6163200"/>
            <a:ext cx="11093040" cy="6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Type: IPv4 (0x0800)  .  Dst b6:cb:dc:76:cc:85 / Src 02:ca:ee:44:4a:fa  .  payload ca fe 00 01.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Same 2 Request/Reply pairs as Lab 1.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"/>
          <p:cNvSpPr/>
          <p:nvPr/>
        </p:nvSpPr>
        <p:spPr>
          <a:xfrm>
            <a:off x="0" y="0"/>
            <a:ext cx="12190320" cy="1022760"/>
          </a:xfrm>
          <a:prstGeom prst="rect">
            <a:avLst/>
          </a:prstGeom>
          <a:solidFill>
            <a:srgbClr val="1b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" name="Rectangle 2"/>
          <p:cNvSpPr/>
          <p:nvPr/>
        </p:nvSpPr>
        <p:spPr>
          <a:xfrm>
            <a:off x="0" y="1024200"/>
            <a:ext cx="12190320" cy="4284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" name="TextBox 3"/>
          <p:cNvSpPr/>
          <p:nvPr/>
        </p:nvSpPr>
        <p:spPr>
          <a:xfrm>
            <a:off x="4491000" y="128160"/>
            <a:ext cx="2842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 - Lab 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Box 4"/>
          <p:cNvSpPr/>
          <p:nvPr/>
        </p:nvSpPr>
        <p:spPr>
          <a:xfrm>
            <a:off x="502920" y="219600"/>
            <a:ext cx="1081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What to expect: XGMII frame anatomy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5"/>
          <p:cNvSpPr/>
          <p:nvPr/>
        </p:nvSpPr>
        <p:spPr>
          <a:xfrm>
            <a:off x="11512800" y="6473880"/>
            <a:ext cx="259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  <a:ea typeface="DejaVu Sans"/>
              </a:rPr>
              <a:t>4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Rectangle 6"/>
          <p:cNvSpPr/>
          <p:nvPr/>
        </p:nvSpPr>
        <p:spPr>
          <a:xfrm>
            <a:off x="548640" y="1188720"/>
            <a:ext cx="1153080" cy="455760"/>
          </a:xfrm>
          <a:prstGeom prst="rect">
            <a:avLst/>
          </a:prstGeom>
          <a:solidFill>
            <a:srgbClr val="a7b1c0"/>
          </a:solidFill>
          <a:ln w="158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Idle /I/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7"/>
          <p:cNvSpPr/>
          <p:nvPr/>
        </p:nvSpPr>
        <p:spPr>
          <a:xfrm>
            <a:off x="1703160" y="1188720"/>
            <a:ext cx="2211480" cy="455760"/>
          </a:xfrm>
          <a:prstGeom prst="rect">
            <a:avLst/>
          </a:prstGeom>
          <a:solidFill>
            <a:srgbClr val="24375e"/>
          </a:solidFill>
          <a:ln w="158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Start /S/ + Preamble + SFD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Rectangle 8"/>
          <p:cNvSpPr/>
          <p:nvPr/>
        </p:nvSpPr>
        <p:spPr>
          <a:xfrm>
            <a:off x="3916080" y="1188720"/>
            <a:ext cx="2115360" cy="455760"/>
          </a:xfrm>
          <a:prstGeom prst="rect">
            <a:avLst/>
          </a:prstGeom>
          <a:solidFill>
            <a:srgbClr val="2e86de"/>
          </a:solidFill>
          <a:ln w="158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Dst + Src MAC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Rectangle 9"/>
          <p:cNvSpPr/>
          <p:nvPr/>
        </p:nvSpPr>
        <p:spPr>
          <a:xfrm>
            <a:off x="6032520" y="1188720"/>
            <a:ext cx="960840" cy="455760"/>
          </a:xfrm>
          <a:prstGeom prst="rect">
            <a:avLst/>
          </a:prstGeom>
          <a:solidFill>
            <a:srgbClr val="1b9c8a"/>
          </a:solidFill>
          <a:ln w="158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EtherType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Rectangle 10"/>
          <p:cNvSpPr/>
          <p:nvPr/>
        </p:nvSpPr>
        <p:spPr>
          <a:xfrm>
            <a:off x="6994800" y="1188720"/>
            <a:ext cx="3077280" cy="455760"/>
          </a:xfrm>
          <a:prstGeom prst="rect">
            <a:avLst/>
          </a:prstGeom>
          <a:solidFill>
            <a:srgbClr val="e88d3b"/>
          </a:solidFill>
          <a:ln w="158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Payload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11"/>
          <p:cNvSpPr/>
          <p:nvPr/>
        </p:nvSpPr>
        <p:spPr>
          <a:xfrm>
            <a:off x="10073520" y="1188720"/>
            <a:ext cx="1537920" cy="455760"/>
          </a:xfrm>
          <a:prstGeom prst="rect">
            <a:avLst/>
          </a:prstGeom>
          <a:solidFill>
            <a:srgbClr val="7b5e8b"/>
          </a:solidFill>
          <a:ln w="158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DejaVu Sans"/>
              </a:rPr>
              <a:t>FCS + /T/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Box 12"/>
          <p:cNvSpPr/>
          <p:nvPr/>
        </p:nvSpPr>
        <p:spPr>
          <a:xfrm>
            <a:off x="548640" y="1700640"/>
            <a:ext cx="11093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646f80"/>
                </a:solidFill>
                <a:latin typeface="Calibri"/>
                <a:ea typeface="DejaVu Sans"/>
              </a:rPr>
              <a:t>Control characters (/I/=0x07, /S/=0xFB, /SFD/=0xD5).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Picture 13" descr="Captura desde 2026-08-24 19-20-51.png"/>
          <p:cNvPicPr/>
          <p:nvPr/>
        </p:nvPicPr>
        <p:blipFill>
          <a:blip r:embed="rId1"/>
          <a:stretch/>
        </p:blipFill>
        <p:spPr>
          <a:xfrm>
            <a:off x="2880000" y="2183400"/>
            <a:ext cx="6458040" cy="1553040"/>
          </a:xfrm>
          <a:prstGeom prst="rect">
            <a:avLst/>
          </a:prstGeom>
          <a:ln w="15840">
            <a:solidFill>
              <a:srgbClr val="c7ccd1"/>
            </a:solidFill>
            <a:round/>
          </a:ln>
        </p:spPr>
      </p:pic>
      <p:sp>
        <p:nvSpPr>
          <p:cNvPr id="44" name="Rectangle 14"/>
          <p:cNvSpPr/>
          <p:nvPr/>
        </p:nvSpPr>
        <p:spPr>
          <a:xfrm>
            <a:off x="4860000" y="2194560"/>
            <a:ext cx="1438920" cy="1541880"/>
          </a:xfrm>
          <a:prstGeom prst="rect">
            <a:avLst/>
          </a:prstGeom>
          <a:noFill/>
          <a:ln w="28440">
            <a:solidFill>
              <a:srgbClr val="2437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" name="Rounded Rectangle 15"/>
          <p:cNvSpPr/>
          <p:nvPr/>
        </p:nvSpPr>
        <p:spPr>
          <a:xfrm>
            <a:off x="4500000" y="3780000"/>
            <a:ext cx="1798920" cy="272880"/>
          </a:xfrm>
          <a:prstGeom prst="roundRect">
            <a:avLst>
              <a:gd name="adj" fmla="val 16667"/>
            </a:avLst>
          </a:prstGeom>
          <a:solidFill>
            <a:srgbClr val="2437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Start + Preamble + SFD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Rectangle 16"/>
          <p:cNvSpPr/>
          <p:nvPr/>
        </p:nvSpPr>
        <p:spPr>
          <a:xfrm>
            <a:off x="6300000" y="2183400"/>
            <a:ext cx="1978920" cy="1553040"/>
          </a:xfrm>
          <a:prstGeom prst="rect">
            <a:avLst/>
          </a:prstGeom>
          <a:noFill/>
          <a:ln w="28440">
            <a:solidFill>
              <a:srgbClr val="2e86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" name="Rounded Rectangle 17"/>
          <p:cNvSpPr/>
          <p:nvPr/>
        </p:nvSpPr>
        <p:spPr>
          <a:xfrm rot="21591600">
            <a:off x="6459840" y="3785040"/>
            <a:ext cx="1638000" cy="272880"/>
          </a:xfrm>
          <a:prstGeom prst="roundRect">
            <a:avLst>
              <a:gd name="adj" fmla="val 16667"/>
            </a:avLst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Dst + Src MAC +Type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18"/>
          <p:cNvSpPr/>
          <p:nvPr/>
        </p:nvSpPr>
        <p:spPr>
          <a:xfrm>
            <a:off x="548640" y="4892040"/>
            <a:ext cx="11093040" cy="8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500" spc="-1" strike="noStrike">
                <a:solidFill>
                  <a:srgbClr val="202a3a"/>
                </a:solidFill>
                <a:latin typeface="Calibri"/>
                <a:ea typeface="DejaVu Sans"/>
              </a:rPr>
              <a:t>Idle (07...07, txc=FF) -&gt; Start (D5 55 55 55 55 55 55 FB, lane0=/S/=FB, txc=01) -&gt; b6 cb dc 76 cc 85 (Dst MAC) 02 ca (Src MAC start) -&gt; ...ee 44 4a fa 08 00 (EtherType) 45 00.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202a3a"/>
                </a:solidFill>
                <a:latin typeface="Calibri"/>
                <a:ea typeface="DejaVu Sans"/>
              </a:rPr>
              <a:t>Each 64-bit word reads right-to-left in 4B: lane 0 = first byte transmitted (right column), lane 7 = last (left column).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0"/>
            <a:ext cx="12190320" cy="1022760"/>
          </a:xfrm>
          <a:prstGeom prst="rect">
            <a:avLst/>
          </a:prstGeom>
          <a:solidFill>
            <a:srgbClr val="1b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" name="Rectangle 2"/>
          <p:cNvSpPr/>
          <p:nvPr/>
        </p:nvSpPr>
        <p:spPr>
          <a:xfrm>
            <a:off x="0" y="1024200"/>
            <a:ext cx="12190320" cy="4284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4491000" y="128160"/>
            <a:ext cx="2842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 - Lab 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502920" y="219600"/>
            <a:ext cx="1081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GTKWave - Echo Request: payload, FCS and Terminate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5"/>
          <p:cNvSpPr/>
          <p:nvPr/>
        </p:nvSpPr>
        <p:spPr>
          <a:xfrm>
            <a:off x="11512800" y="6473880"/>
            <a:ext cx="259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  <a:ea typeface="DejaVu Sans"/>
              </a:rPr>
              <a:t>5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Picture 6" descr="Captura desde 2026-08-24 19-21-25.png"/>
          <p:cNvPicPr/>
          <p:nvPr/>
        </p:nvPicPr>
        <p:blipFill>
          <a:blip r:embed="rId1"/>
          <a:stretch/>
        </p:blipFill>
        <p:spPr>
          <a:xfrm>
            <a:off x="2471040" y="1371600"/>
            <a:ext cx="7218000" cy="1735920"/>
          </a:xfrm>
          <a:prstGeom prst="rect">
            <a:avLst/>
          </a:prstGeom>
          <a:ln w="15840">
            <a:solidFill>
              <a:srgbClr val="c7ccd1"/>
            </a:solidFill>
            <a:round/>
          </a:ln>
        </p:spPr>
      </p:pic>
      <p:sp>
        <p:nvSpPr>
          <p:cNvPr id="55" name="Rectangle 7"/>
          <p:cNvSpPr/>
          <p:nvPr/>
        </p:nvSpPr>
        <p:spPr>
          <a:xfrm>
            <a:off x="3960000" y="1371600"/>
            <a:ext cx="2338920" cy="1735920"/>
          </a:xfrm>
          <a:prstGeom prst="rect">
            <a:avLst/>
          </a:prstGeom>
          <a:noFill/>
          <a:ln w="28440">
            <a:solidFill>
              <a:srgbClr val="e88d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" name="Rounded Rectangle 8"/>
          <p:cNvSpPr/>
          <p:nvPr/>
        </p:nvSpPr>
        <p:spPr>
          <a:xfrm>
            <a:off x="4345920" y="3147120"/>
            <a:ext cx="1735920" cy="272880"/>
          </a:xfrm>
          <a:prstGeom prst="roundRect">
            <a:avLst>
              <a:gd name="adj" fmla="val 16667"/>
            </a:avLst>
          </a:prstGeom>
          <a:solidFill>
            <a:srgbClr val="e88d3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Payload = CAFE0001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9"/>
          <p:cNvSpPr/>
          <p:nvPr/>
        </p:nvSpPr>
        <p:spPr>
          <a:xfrm>
            <a:off x="6297480" y="1371600"/>
            <a:ext cx="1621440" cy="1735920"/>
          </a:xfrm>
          <a:prstGeom prst="rect">
            <a:avLst/>
          </a:prstGeom>
          <a:noFill/>
          <a:ln w="28440">
            <a:solidFill>
              <a:srgbClr val="7b5e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" name="Rounded Rectangle 10"/>
          <p:cNvSpPr/>
          <p:nvPr/>
        </p:nvSpPr>
        <p:spPr>
          <a:xfrm>
            <a:off x="6403320" y="3147120"/>
            <a:ext cx="1735920" cy="272880"/>
          </a:xfrm>
          <a:prstGeom prst="roundRect">
            <a:avLst>
              <a:gd name="adj" fmla="val 16667"/>
            </a:avLst>
          </a:prstGeom>
          <a:solidFill>
            <a:srgbClr val="7b5e8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FCS + /T/ + /I/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1"/>
          <p:cNvSpPr/>
          <p:nvPr/>
        </p:nvSpPr>
        <p:spPr>
          <a:xfrm>
            <a:off x="548640" y="3749040"/>
            <a:ext cx="11093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Payload ca fe 00 01 repeated (txc=00) -&gt; last word: 2 payload bytes + FCS (4 bytes, CRC-32) + /T/=FD + /I/=07 (txc=C0) -&gt; back to Idle.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12190320" cy="1022760"/>
          </a:xfrm>
          <a:prstGeom prst="rect">
            <a:avLst/>
          </a:prstGeom>
          <a:solidFill>
            <a:srgbClr val="1b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0" y="1024200"/>
            <a:ext cx="12190320" cy="4284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4491000" y="128160"/>
            <a:ext cx="2842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 - Lab 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502920" y="219600"/>
            <a:ext cx="1081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GTKWave - Echo Reply: same structure, reversed direction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11512800" y="6473880"/>
            <a:ext cx="259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  <a:ea typeface="DejaVu Sans"/>
              </a:rPr>
              <a:t>6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6" descr="Captura desde 2026-08-24 19-13-11.png"/>
          <p:cNvPicPr/>
          <p:nvPr/>
        </p:nvPicPr>
        <p:blipFill>
          <a:blip r:embed="rId1"/>
          <a:stretch/>
        </p:blipFill>
        <p:spPr>
          <a:xfrm>
            <a:off x="2520000" y="1371600"/>
            <a:ext cx="7218000" cy="1735920"/>
          </a:xfrm>
          <a:prstGeom prst="rect">
            <a:avLst/>
          </a:prstGeom>
          <a:ln w="15840">
            <a:solidFill>
              <a:srgbClr val="c7ccd1"/>
            </a:solidFill>
            <a:round/>
          </a:ln>
        </p:spPr>
      </p:pic>
      <p:sp>
        <p:nvSpPr>
          <p:cNvPr id="66" name="Rectangle 7"/>
          <p:cNvSpPr/>
          <p:nvPr/>
        </p:nvSpPr>
        <p:spPr>
          <a:xfrm>
            <a:off x="3960000" y="1371600"/>
            <a:ext cx="747720" cy="1735920"/>
          </a:xfrm>
          <a:prstGeom prst="rect">
            <a:avLst/>
          </a:prstGeom>
          <a:noFill/>
          <a:ln w="28440">
            <a:solidFill>
              <a:srgbClr val="2437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" name="Rounded Rectangle 8"/>
          <p:cNvSpPr/>
          <p:nvPr/>
        </p:nvSpPr>
        <p:spPr>
          <a:xfrm>
            <a:off x="3736800" y="3476160"/>
            <a:ext cx="1004400" cy="272880"/>
          </a:xfrm>
          <a:prstGeom prst="roundRect">
            <a:avLst>
              <a:gd name="adj" fmla="val 16667"/>
            </a:avLst>
          </a:prstGeom>
          <a:solidFill>
            <a:srgbClr val="2437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Start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 9"/>
          <p:cNvSpPr/>
          <p:nvPr/>
        </p:nvSpPr>
        <p:spPr>
          <a:xfrm>
            <a:off x="4708800" y="1371600"/>
            <a:ext cx="3030120" cy="1735920"/>
          </a:xfrm>
          <a:prstGeom prst="rect">
            <a:avLst/>
          </a:prstGeom>
          <a:noFill/>
          <a:ln w="28440">
            <a:solidFill>
              <a:srgbClr val="2e86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" name="Rounded Rectangle 10"/>
          <p:cNvSpPr/>
          <p:nvPr/>
        </p:nvSpPr>
        <p:spPr>
          <a:xfrm>
            <a:off x="4641840" y="3147120"/>
            <a:ext cx="2010240" cy="272880"/>
          </a:xfrm>
          <a:prstGeom prst="roundRect">
            <a:avLst>
              <a:gd name="adj" fmla="val 16667"/>
            </a:avLst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Dst + Src MAC (reversed)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548640" y="3749040"/>
            <a:ext cx="1109304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a_rxd/a_rxc: Start -&gt; 02 ca ee 44 4a fa (Dst=host) b6 cb (Src=ns_b start) -&gt; ...dc 76 cc 85 08 00 (EtherType) 45 00.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Same EtherType 0x0800 confirmed on the return path.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Dst/Src MAC exactly swapped compared to the Request.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0320" cy="1022760"/>
          </a:xfrm>
          <a:prstGeom prst="rect">
            <a:avLst/>
          </a:prstGeom>
          <a:solidFill>
            <a:srgbClr val="1b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0" y="1024200"/>
            <a:ext cx="12190320" cy="42840"/>
          </a:xfrm>
          <a:prstGeom prst="rect">
            <a:avLst/>
          </a:prstGeom>
          <a:solidFill>
            <a:srgbClr val="2e86d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4491000" y="128160"/>
            <a:ext cx="2842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  <a:ea typeface="DejaVu Sans"/>
              </a:rPr>
              <a:t>TP3 - Communication Protocols - Lab 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502920" y="219600"/>
            <a:ext cx="1081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GTKWave - Echo Reply: payload and closing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1512800" y="6473880"/>
            <a:ext cx="259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  <a:ea typeface="DejaVu Sans"/>
              </a:rPr>
              <a:t>7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6" descr="Captura desde 2026-08-24 19-13-35.png"/>
          <p:cNvPicPr/>
          <p:nvPr/>
        </p:nvPicPr>
        <p:blipFill>
          <a:blip r:embed="rId1"/>
          <a:stretch/>
        </p:blipFill>
        <p:spPr>
          <a:xfrm>
            <a:off x="2471040" y="1371600"/>
            <a:ext cx="7218000" cy="1735920"/>
          </a:xfrm>
          <a:prstGeom prst="rect">
            <a:avLst/>
          </a:prstGeom>
          <a:ln w="15840">
            <a:solidFill>
              <a:srgbClr val="c7ccd1"/>
            </a:solidFill>
            <a:round/>
          </a:ln>
        </p:spPr>
      </p:pic>
      <p:sp>
        <p:nvSpPr>
          <p:cNvPr id="77" name="Rectangle 7"/>
          <p:cNvSpPr/>
          <p:nvPr/>
        </p:nvSpPr>
        <p:spPr>
          <a:xfrm>
            <a:off x="3960000" y="1371600"/>
            <a:ext cx="2338920" cy="1735920"/>
          </a:xfrm>
          <a:prstGeom prst="rect">
            <a:avLst/>
          </a:prstGeom>
          <a:noFill/>
          <a:ln w="28440">
            <a:solidFill>
              <a:srgbClr val="e88d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" name="Rounded Rectangle 8"/>
          <p:cNvSpPr/>
          <p:nvPr/>
        </p:nvSpPr>
        <p:spPr>
          <a:xfrm>
            <a:off x="4345920" y="3147120"/>
            <a:ext cx="1735920" cy="272880"/>
          </a:xfrm>
          <a:prstGeom prst="roundRect">
            <a:avLst>
              <a:gd name="adj" fmla="val 16667"/>
            </a:avLst>
          </a:prstGeom>
          <a:solidFill>
            <a:srgbClr val="e88d3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Payload = CAFE0001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9"/>
          <p:cNvSpPr/>
          <p:nvPr/>
        </p:nvSpPr>
        <p:spPr>
          <a:xfrm>
            <a:off x="6297480" y="1371600"/>
            <a:ext cx="1622520" cy="1735920"/>
          </a:xfrm>
          <a:prstGeom prst="rect">
            <a:avLst/>
          </a:prstGeom>
          <a:noFill/>
          <a:ln w="28440">
            <a:solidFill>
              <a:srgbClr val="7b5e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" name="Rounded Rectangle 10"/>
          <p:cNvSpPr/>
          <p:nvPr/>
        </p:nvSpPr>
        <p:spPr>
          <a:xfrm>
            <a:off x="6367320" y="3147120"/>
            <a:ext cx="1735920" cy="272880"/>
          </a:xfrm>
          <a:prstGeom prst="roundRect">
            <a:avLst>
              <a:gd name="adj" fmla="val 16667"/>
            </a:avLst>
          </a:prstGeom>
          <a:solidFill>
            <a:srgbClr val="7b5e8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FCS + /T/ + /I/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548640" y="3749040"/>
            <a:ext cx="11093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  <a:ea typeface="DejaVu Sans"/>
              </a:rPr>
              <a:t>Same closing pattern as the Request: payload ca fe 00 01, FCS, /T/ + /I/ (txc=C0), back to Idle (txc=FF).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2026-08-25T11:07:51Z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