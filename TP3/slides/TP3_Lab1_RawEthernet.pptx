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F09DE9-0673-4775-9614-C2A3203EA3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E9EDE68-AA45-48F6-9BC6-8AECB9A7B7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BA43ABC-E82F-4802-BFF0-5AEEA001A2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C2824CB-1DC4-4999-8830-32091791AD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7B578B5-7294-41BB-AE3A-648712FA2F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D71EDE1-8098-4D0F-A2F5-842FCE5339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47BD84E-6D71-4D6D-84B3-BDB4AFDAFD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34FC66C-ABAF-4A62-98A0-115D394575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52F382C-2277-40D7-9586-6CDC5AAE4D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14E24B1-6FC3-4BDF-8192-F54A6C8BAE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B0D6B4A-9B78-4A69-A52F-6932DAC652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</a:t>
            </a: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D9C33FE-4BCF-4CC0-AC92-EFF9C6BEAB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A5F5559-D6D7-4D35-B009-318879AD3B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43F20AC-661F-4ED4-98AD-FDFB0F49ABA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1F6B919-C0B6-48C7-B597-11F6E72BEA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43226B6-38EF-4A3A-998E-A2090B3E489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D4780F0-34CB-441A-B8FE-E7E3AB5882A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F9685D9-95E9-42C7-966E-C93D613237E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55BB510-7C62-488A-A7E7-3C071B0B4CB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868DCA5-CBE9-47A5-9D2C-F9CC5E4C3B6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FFD01AB-358C-40E4-895B-9AD2D8FEAC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482ACB2-A325-4B10-944A-14506BC5EA0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"/>
          <p:cNvSpPr/>
          <p:nvPr/>
        </p:nvSpPr>
        <p:spPr>
          <a:xfrm>
            <a:off x="4417200" y="2103120"/>
            <a:ext cx="3326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8eb8f5"/>
                </a:solidFill>
                <a:latin typeface="Calibri"/>
              </a:rPr>
              <a:t>TP3 - Communication Protocols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914400" y="2560320"/>
            <a:ext cx="103316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Lab 1 - Raw 8-bit Ethernet Stream</a:t>
            </a:r>
            <a:endParaRPr b="0" lang="es-E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914400" y="3794760"/>
            <a:ext cx="103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c9d6e8"/>
                </a:solidFill>
                <a:latin typeface="Calibri"/>
              </a:rPr>
              <a:t>Vasquez Curetti Francisco Javier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Rectangle 4"/>
          <p:cNvSpPr/>
          <p:nvPr/>
        </p:nvSpPr>
        <p:spPr>
          <a:xfrm>
            <a:off x="932760" y="2487240"/>
            <a:ext cx="1279080" cy="49680"/>
          </a:xfrm>
          <a:prstGeom prst="rect">
            <a:avLst/>
          </a:prstGeom>
          <a:solidFill>
            <a:srgbClr val="2e86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3393720" y="6126480"/>
            <a:ext cx="5372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e9bb5"/>
                </a:solidFill>
                <a:latin typeface="Calibri"/>
              </a:rPr>
              <a:t>ethernet-phy-labs / lab1-raw-ethernet   .   test payload: 0xCAFE0001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1"/>
          <p:cNvSpPr/>
          <p:nvPr/>
        </p:nvSpPr>
        <p:spPr>
          <a:xfrm>
            <a:off x="0" y="0"/>
            <a:ext cx="12190680" cy="10231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" name="Rectangle 2"/>
          <p:cNvSpPr/>
          <p:nvPr/>
        </p:nvSpPr>
        <p:spPr>
          <a:xfrm>
            <a:off x="0" y="1024200"/>
            <a:ext cx="12190680" cy="43200"/>
          </a:xfrm>
          <a:prstGeom prst="rect">
            <a:avLst/>
          </a:prstGeom>
          <a:solidFill>
            <a:srgbClr val="2e86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20" bIns="-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TextBox 3"/>
          <p:cNvSpPr/>
          <p:nvPr/>
        </p:nvSpPr>
        <p:spPr>
          <a:xfrm>
            <a:off x="4491000" y="128160"/>
            <a:ext cx="2842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eb8f5"/>
                </a:solidFill>
                <a:latin typeface="Calibri"/>
              </a:rPr>
              <a:t>TP3 - Communication Protocols - Lab 1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4"/>
          <p:cNvSpPr/>
          <p:nvPr/>
        </p:nvSpPr>
        <p:spPr>
          <a:xfrm>
            <a:off x="502920" y="219600"/>
            <a:ext cx="1081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Testbench: network interfaces up and running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5"/>
          <p:cNvSpPr/>
          <p:nvPr/>
        </p:nvSpPr>
        <p:spPr>
          <a:xfrm>
            <a:off x="11512800" y="6473880"/>
            <a:ext cx="259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6f80"/>
                </a:solidFill>
                <a:latin typeface="Calibri"/>
              </a:rPr>
              <a:t>2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Picture 6" descr="Captura desde 2026-08-24 16-07-54.png"/>
          <p:cNvPicPr/>
          <p:nvPr/>
        </p:nvPicPr>
        <p:blipFill>
          <a:blip r:embed="rId1"/>
          <a:stretch/>
        </p:blipFill>
        <p:spPr>
          <a:xfrm>
            <a:off x="548640" y="1298520"/>
            <a:ext cx="11063160" cy="3541320"/>
          </a:xfrm>
          <a:prstGeom prst="rect">
            <a:avLst/>
          </a:prstGeom>
          <a:ln w="15875">
            <a:solidFill>
              <a:srgbClr val="c7ccd1"/>
            </a:solidFill>
            <a:round/>
          </a:ln>
        </p:spPr>
      </p:pic>
      <p:sp>
        <p:nvSpPr>
          <p:cNvPr id="61" name="TextBox 7"/>
          <p:cNvSpPr/>
          <p:nvPr/>
        </p:nvSpPr>
        <p:spPr>
          <a:xfrm>
            <a:off x="548640" y="5133240"/>
            <a:ext cx="11093400" cy="92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202a3a"/>
                </a:solidFill>
                <a:latin typeface="Calibri"/>
              </a:rPr>
              <a:t>setup_netns.sh creates namespace ns_b and the TAP interfaces: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202a3a"/>
                </a:solidFill>
                <a:latin typeface="Calibri"/>
              </a:rPr>
              <a:t>tap0 -&gt; 10.0.0.1/24, MAC 02:ca:ee:44:4a:fa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202a3a"/>
                </a:solidFill>
                <a:latin typeface="Calibri"/>
              </a:rPr>
              <a:t>tap1 -&gt; 10.0.0.2/24, MAC b6:cb:dc:76:cc:85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1"/>
          <p:cNvSpPr/>
          <p:nvPr/>
        </p:nvSpPr>
        <p:spPr>
          <a:xfrm>
            <a:off x="0" y="0"/>
            <a:ext cx="12190680" cy="10231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Rectangle 2"/>
          <p:cNvSpPr/>
          <p:nvPr/>
        </p:nvSpPr>
        <p:spPr>
          <a:xfrm>
            <a:off x="0" y="1024200"/>
            <a:ext cx="12190680" cy="43200"/>
          </a:xfrm>
          <a:prstGeom prst="rect">
            <a:avLst/>
          </a:prstGeom>
          <a:solidFill>
            <a:srgbClr val="2e86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20" bIns="-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TextBox 3"/>
          <p:cNvSpPr/>
          <p:nvPr/>
        </p:nvSpPr>
        <p:spPr>
          <a:xfrm>
            <a:off x="4491000" y="128160"/>
            <a:ext cx="2842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eb8f5"/>
                </a:solidFill>
                <a:latin typeface="Calibri"/>
              </a:rPr>
              <a:t>TP3 - Communication Protocols - Lab 1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4"/>
          <p:cNvSpPr/>
          <p:nvPr/>
        </p:nvSpPr>
        <p:spPr>
          <a:xfrm>
            <a:off x="502920" y="219600"/>
            <a:ext cx="1081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Compiling the emulator and generating traffic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5"/>
          <p:cNvSpPr/>
          <p:nvPr/>
        </p:nvSpPr>
        <p:spPr>
          <a:xfrm>
            <a:off x="11512800" y="6473880"/>
            <a:ext cx="259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6f80"/>
                </a:solidFill>
                <a:latin typeface="Calibri"/>
              </a:rPr>
              <a:t>3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Picture 6" descr="Captura desde 2026-08-24 16-08-38.png"/>
          <p:cNvPicPr/>
          <p:nvPr/>
        </p:nvPicPr>
        <p:blipFill>
          <a:blip r:embed="rId1"/>
          <a:stretch/>
        </p:blipFill>
        <p:spPr>
          <a:xfrm>
            <a:off x="502920" y="1298520"/>
            <a:ext cx="5393880" cy="2945160"/>
          </a:xfrm>
          <a:prstGeom prst="rect">
            <a:avLst/>
          </a:prstGeom>
          <a:ln w="15875">
            <a:solidFill>
              <a:srgbClr val="c7ccd1"/>
            </a:solidFill>
            <a:round/>
          </a:ln>
        </p:spPr>
      </p:pic>
      <p:pic>
        <p:nvPicPr>
          <p:cNvPr id="68" name="Picture 7" descr="Captura desde 2026-08-24 16-10-56.png"/>
          <p:cNvPicPr/>
          <p:nvPr/>
        </p:nvPicPr>
        <p:blipFill>
          <a:blip r:embed="rId2"/>
          <a:stretch/>
        </p:blipFill>
        <p:spPr>
          <a:xfrm>
            <a:off x="6035040" y="1298520"/>
            <a:ext cx="5622480" cy="1567440"/>
          </a:xfrm>
          <a:prstGeom prst="rect">
            <a:avLst/>
          </a:prstGeom>
          <a:ln w="15875">
            <a:solidFill>
              <a:srgbClr val="c7ccd1"/>
            </a:solidFill>
            <a:round/>
          </a:ln>
        </p:spPr>
      </p:pic>
      <p:sp>
        <p:nvSpPr>
          <p:cNvPr id="69" name="TextBox 8"/>
          <p:cNvSpPr/>
          <p:nvPr/>
        </p:nvSpPr>
        <p:spPr>
          <a:xfrm>
            <a:off x="548640" y="4537440"/>
            <a:ext cx="11093400" cy="92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202a3a"/>
                </a:solidFill>
                <a:latin typeface="Calibri"/>
              </a:rPr>
              <a:t>While [EMULADOR LAB 1] running: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202a3a"/>
                </a:solidFill>
                <a:latin typeface="Calibri"/>
              </a:rPr>
              <a:t>ping -c 2 -p cafe0001 -I tap0 10.0.0.2 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202a3a"/>
                </a:solidFill>
                <a:latin typeface="Calibri"/>
              </a:rPr>
              <a:t>tcpdump captured 12 packets on tap0 during the test.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90680" cy="10231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Rectangle 2"/>
          <p:cNvSpPr/>
          <p:nvPr/>
        </p:nvSpPr>
        <p:spPr>
          <a:xfrm>
            <a:off x="0" y="1024200"/>
            <a:ext cx="12190680" cy="43200"/>
          </a:xfrm>
          <a:prstGeom prst="rect">
            <a:avLst/>
          </a:prstGeom>
          <a:solidFill>
            <a:srgbClr val="2e86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20" bIns="-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4491000" y="128160"/>
            <a:ext cx="2842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eb8f5"/>
                </a:solidFill>
                <a:latin typeface="Calibri"/>
              </a:rPr>
              <a:t>TP3 - Communication Protocols - Lab 1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502920" y="219600"/>
            <a:ext cx="1081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What to expect: raw Ethernet II frame anatomy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11512800" y="6473880"/>
            <a:ext cx="259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6f80"/>
                </a:solidFill>
                <a:latin typeface="Calibri"/>
              </a:rPr>
              <a:t>4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6"/>
          <p:cNvSpPr/>
          <p:nvPr/>
        </p:nvSpPr>
        <p:spPr>
          <a:xfrm>
            <a:off x="548640" y="1207080"/>
            <a:ext cx="2633400" cy="456120"/>
          </a:xfrm>
          <a:prstGeom prst="rect">
            <a:avLst/>
          </a:prstGeom>
          <a:solidFill>
            <a:srgbClr val="24375e"/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rIns="25560" tIns="12600" bIns="126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Dst MAC - 6B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ectangle 7"/>
          <p:cNvSpPr/>
          <p:nvPr/>
        </p:nvSpPr>
        <p:spPr>
          <a:xfrm>
            <a:off x="3183120" y="1207080"/>
            <a:ext cx="2633400" cy="456120"/>
          </a:xfrm>
          <a:prstGeom prst="rect">
            <a:avLst/>
          </a:prstGeom>
          <a:solidFill>
            <a:srgbClr val="2e86de"/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rIns="25560" tIns="12600" bIns="126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Src MAC - 6B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Rectangle 8"/>
          <p:cNvSpPr/>
          <p:nvPr/>
        </p:nvSpPr>
        <p:spPr>
          <a:xfrm>
            <a:off x="5817240" y="1207080"/>
            <a:ext cx="1404000" cy="456120"/>
          </a:xfrm>
          <a:prstGeom prst="rect">
            <a:avLst/>
          </a:prstGeom>
          <a:solidFill>
            <a:srgbClr val="1b9c8a"/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rIns="25560" tIns="12600" bIns="126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EtherType - 2B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Rectangle 9"/>
          <p:cNvSpPr/>
          <p:nvPr/>
        </p:nvSpPr>
        <p:spPr>
          <a:xfrm>
            <a:off x="7222320" y="1207080"/>
            <a:ext cx="4389480" cy="456120"/>
          </a:xfrm>
          <a:prstGeom prst="rect">
            <a:avLst/>
          </a:prstGeom>
          <a:solidFill>
            <a:srgbClr val="e88d3b"/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rIns="25560" tIns="12600" bIns="126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Payload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48640" y="1737360"/>
            <a:ext cx="11093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646f80"/>
                </a:solidFill>
                <a:latin typeface="Calibri"/>
              </a:rPr>
              <a:t>No Preamble / SFD / FCS at this level: the Linux TAP hands over the frame already stripped of those PHY/MAC-added fields.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Picture 11" descr="Captura desde 2026-08-24 16-15-03.png"/>
          <p:cNvPicPr/>
          <p:nvPr/>
        </p:nvPicPr>
        <p:blipFill>
          <a:blip r:embed="rId1"/>
          <a:stretch/>
        </p:blipFill>
        <p:spPr>
          <a:xfrm>
            <a:off x="502920" y="2194560"/>
            <a:ext cx="5393880" cy="2421360"/>
          </a:xfrm>
          <a:prstGeom prst="rect">
            <a:avLst/>
          </a:prstGeom>
          <a:ln w="15875">
            <a:solidFill>
              <a:srgbClr val="c7ccd1"/>
            </a:solidFill>
            <a:round/>
          </a:ln>
        </p:spPr>
      </p:pic>
      <p:pic>
        <p:nvPicPr>
          <p:cNvPr id="81" name="Picture 12" descr="Captura desde 2026-08-24 16-15-11.png"/>
          <p:cNvPicPr/>
          <p:nvPr/>
        </p:nvPicPr>
        <p:blipFill>
          <a:blip r:embed="rId2"/>
          <a:stretch/>
        </p:blipFill>
        <p:spPr>
          <a:xfrm>
            <a:off x="6035040" y="2194560"/>
            <a:ext cx="5622480" cy="2523960"/>
          </a:xfrm>
          <a:prstGeom prst="rect">
            <a:avLst/>
          </a:prstGeom>
          <a:ln w="15875">
            <a:solidFill>
              <a:srgbClr val="c7ccd1"/>
            </a:solidFill>
            <a:round/>
          </a:ln>
        </p:spPr>
      </p:pic>
      <p:sp>
        <p:nvSpPr>
          <p:cNvPr id="82" name="TextBox 13"/>
          <p:cNvSpPr/>
          <p:nvPr/>
        </p:nvSpPr>
        <p:spPr>
          <a:xfrm>
            <a:off x="548640" y="4884120"/>
            <a:ext cx="1109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202a3a"/>
                </a:solidFill>
                <a:latin typeface="Calibri"/>
              </a:rPr>
              <a:t>Wireshark - Echo Request: Dst b6:cb:dc:76:cc:85  .  Src 02:ca:ee:44:4a:fa  .  EtherType 0x0800  .  payload ca fe 00 01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0680" cy="10231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Rectangle 2"/>
          <p:cNvSpPr/>
          <p:nvPr/>
        </p:nvSpPr>
        <p:spPr>
          <a:xfrm>
            <a:off x="0" y="1024200"/>
            <a:ext cx="12190680" cy="43200"/>
          </a:xfrm>
          <a:prstGeom prst="rect">
            <a:avLst/>
          </a:prstGeom>
          <a:solidFill>
            <a:srgbClr val="2e86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20" bIns="-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4491000" y="128160"/>
            <a:ext cx="2842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eb8f5"/>
                </a:solidFill>
                <a:latin typeface="Calibri"/>
              </a:rPr>
              <a:t>TP3 - Communication Protocols - Lab 1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502920" y="219600"/>
            <a:ext cx="1081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Wireshark - Echo Reply (reversed direction)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11512800" y="6473880"/>
            <a:ext cx="259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6f80"/>
                </a:solidFill>
                <a:latin typeface="Calibri"/>
              </a:rPr>
              <a:t>5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Picture 6" descr="Captura desde 2026-08-24 16-15-18.png"/>
          <p:cNvPicPr/>
          <p:nvPr/>
        </p:nvPicPr>
        <p:blipFill>
          <a:blip r:embed="rId1"/>
          <a:stretch/>
        </p:blipFill>
        <p:spPr>
          <a:xfrm>
            <a:off x="502920" y="1298520"/>
            <a:ext cx="5393880" cy="2421360"/>
          </a:xfrm>
          <a:prstGeom prst="rect">
            <a:avLst/>
          </a:prstGeom>
          <a:ln w="15875">
            <a:solidFill>
              <a:srgbClr val="c7ccd1"/>
            </a:solidFill>
            <a:round/>
          </a:ln>
        </p:spPr>
      </p:pic>
      <p:pic>
        <p:nvPicPr>
          <p:cNvPr id="89" name="Picture 7" descr="Captura desde 2026-08-24 16-15-24.png"/>
          <p:cNvPicPr/>
          <p:nvPr/>
        </p:nvPicPr>
        <p:blipFill>
          <a:blip r:embed="rId2"/>
          <a:stretch/>
        </p:blipFill>
        <p:spPr>
          <a:xfrm>
            <a:off x="6035040" y="1298520"/>
            <a:ext cx="5622480" cy="2523960"/>
          </a:xfrm>
          <a:prstGeom prst="rect">
            <a:avLst/>
          </a:prstGeom>
          <a:ln w="15875">
            <a:solidFill>
              <a:srgbClr val="c7ccd1"/>
            </a:solidFill>
            <a:round/>
          </a:ln>
        </p:spPr>
      </p:pic>
      <p:sp>
        <p:nvSpPr>
          <p:cNvPr id="90" name="TextBox 8"/>
          <p:cNvSpPr/>
          <p:nvPr/>
        </p:nvSpPr>
        <p:spPr>
          <a:xfrm>
            <a:off x="548640" y="4115880"/>
            <a:ext cx="11093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202a3a"/>
                </a:solidFill>
                <a:latin typeface="Calibri"/>
              </a:rPr>
              <a:t>Destination and source swap (10.0.0.2 -&gt; 10.0.0.1).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0680" cy="10231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2"/>
          <p:cNvSpPr/>
          <p:nvPr/>
        </p:nvSpPr>
        <p:spPr>
          <a:xfrm>
            <a:off x="0" y="1024200"/>
            <a:ext cx="12190680" cy="43200"/>
          </a:xfrm>
          <a:prstGeom prst="rect">
            <a:avLst/>
          </a:prstGeom>
          <a:solidFill>
            <a:srgbClr val="2e86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20" bIns="-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4491000" y="128160"/>
            <a:ext cx="2842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eb8f5"/>
                </a:solidFill>
                <a:latin typeface="Calibri"/>
              </a:rPr>
              <a:t>TP3 - Communication Protocols - Lab 1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502920" y="219600"/>
            <a:ext cx="1081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GTKWave - byte-for-byte match: start of frame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11512800" y="6473880"/>
            <a:ext cx="259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6f80"/>
                </a:solidFill>
                <a:latin typeface="Calibri"/>
              </a:rPr>
              <a:t>6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Picture 6" descr="Captura desde 2026-08-24 16-39-08.png"/>
          <p:cNvPicPr/>
          <p:nvPr/>
        </p:nvPicPr>
        <p:blipFill>
          <a:blip r:embed="rId1"/>
          <a:stretch/>
        </p:blipFill>
        <p:spPr>
          <a:xfrm>
            <a:off x="502920" y="1371600"/>
            <a:ext cx="11154600" cy="942840"/>
          </a:xfrm>
          <a:prstGeom prst="rect">
            <a:avLst/>
          </a:prstGeom>
          <a:ln w="15875">
            <a:solidFill>
              <a:srgbClr val="c7ccd1"/>
            </a:solidFill>
            <a:round/>
          </a:ln>
        </p:spPr>
      </p:pic>
      <p:sp>
        <p:nvSpPr>
          <p:cNvPr id="97" name="Rectangle 7"/>
          <p:cNvSpPr/>
          <p:nvPr/>
        </p:nvSpPr>
        <p:spPr>
          <a:xfrm>
            <a:off x="6660000" y="1371600"/>
            <a:ext cx="3599640" cy="942840"/>
          </a:xfrm>
          <a:prstGeom prst="rect">
            <a:avLst/>
          </a:prstGeom>
          <a:noFill/>
          <a:ln w="28575">
            <a:solidFill>
              <a:srgbClr val="e88d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ounded Rectangle 8"/>
          <p:cNvSpPr/>
          <p:nvPr/>
        </p:nvSpPr>
        <p:spPr>
          <a:xfrm>
            <a:off x="7220160" y="2353680"/>
            <a:ext cx="1736280" cy="273240"/>
          </a:xfrm>
          <a:prstGeom prst="roundRect">
            <a:avLst>
              <a:gd name="adj" fmla="val 16667"/>
            </a:avLst>
          </a:prstGeom>
          <a:solidFill>
            <a:srgbClr val="e88d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rIns="3816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Dst MAC + Src MAC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9"/>
          <p:cNvSpPr/>
          <p:nvPr/>
        </p:nvSpPr>
        <p:spPr>
          <a:xfrm>
            <a:off x="548640" y="3001320"/>
            <a:ext cx="11093400" cy="10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pc="-1" strike="noStrike">
                <a:solidFill>
                  <a:srgbClr val="202a3a"/>
                </a:solidFill>
                <a:latin typeface="Calibri"/>
              </a:rPr>
              <a:t>a_data_in[7:0] = B6 CB DC 76 CC 85 02 CA EE 44 4A FA 08 00 45 00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202a3a"/>
                </a:solidFill>
                <a:latin typeface="Calibri"/>
              </a:rPr>
              <a:t>Identical to the Wireshark hex bytes, one byte per clock cycle.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202a3a"/>
                </a:solidFill>
                <a:latin typeface="Calibri"/>
              </a:rPr>
              <a:t>a_valid_in stays high.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 3"/>
          <p:cNvSpPr/>
          <p:nvPr/>
        </p:nvSpPr>
        <p:spPr>
          <a:xfrm>
            <a:off x="10259640" y="1371600"/>
            <a:ext cx="540000" cy="942840"/>
          </a:xfrm>
          <a:prstGeom prst="rect">
            <a:avLst/>
          </a:prstGeom>
          <a:noFill/>
          <a:ln w="28575">
            <a:solidFill>
              <a:srgbClr val="3465a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Rounded Rectangle 1"/>
          <p:cNvSpPr/>
          <p:nvPr/>
        </p:nvSpPr>
        <p:spPr>
          <a:xfrm>
            <a:off x="9900000" y="2426760"/>
            <a:ext cx="1260000" cy="27324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rIns="3816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Type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0680" cy="10231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 2"/>
          <p:cNvSpPr/>
          <p:nvPr/>
        </p:nvSpPr>
        <p:spPr>
          <a:xfrm>
            <a:off x="0" y="1024200"/>
            <a:ext cx="12190680" cy="43200"/>
          </a:xfrm>
          <a:prstGeom prst="rect">
            <a:avLst/>
          </a:prstGeom>
          <a:solidFill>
            <a:srgbClr val="2e86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20" bIns="-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4491000" y="128160"/>
            <a:ext cx="2842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eb8f5"/>
                </a:solidFill>
                <a:latin typeface="Calibri"/>
              </a:rPr>
              <a:t>TP3 - Communication Protocols - Lab 1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502920" y="219600"/>
            <a:ext cx="1081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GTKWave - byte-for-byte match: custom payload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11512800" y="6473880"/>
            <a:ext cx="259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6f80"/>
                </a:solidFill>
                <a:latin typeface="Calibri"/>
              </a:rPr>
              <a:t>7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Picture 6" descr="Captura desde 2026-08-24 16-40-08.png"/>
          <p:cNvPicPr/>
          <p:nvPr/>
        </p:nvPicPr>
        <p:blipFill>
          <a:blip r:embed="rId1"/>
          <a:stretch/>
        </p:blipFill>
        <p:spPr>
          <a:xfrm>
            <a:off x="502920" y="1371600"/>
            <a:ext cx="11154600" cy="942840"/>
          </a:xfrm>
          <a:prstGeom prst="rect">
            <a:avLst/>
          </a:prstGeom>
          <a:ln w="15875">
            <a:solidFill>
              <a:srgbClr val="c7ccd1"/>
            </a:solidFill>
            <a:round/>
          </a:ln>
        </p:spPr>
      </p:pic>
      <p:sp>
        <p:nvSpPr>
          <p:cNvPr id="108" name="Rectangle 7"/>
          <p:cNvSpPr/>
          <p:nvPr/>
        </p:nvSpPr>
        <p:spPr>
          <a:xfrm>
            <a:off x="3171600" y="1329840"/>
            <a:ext cx="8485920" cy="968040"/>
          </a:xfrm>
          <a:prstGeom prst="rect">
            <a:avLst/>
          </a:prstGeom>
          <a:noFill/>
          <a:ln w="28575">
            <a:solidFill>
              <a:srgbClr val="e88d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Rounded Rectangle 8"/>
          <p:cNvSpPr/>
          <p:nvPr/>
        </p:nvSpPr>
        <p:spPr>
          <a:xfrm>
            <a:off x="6383520" y="2353680"/>
            <a:ext cx="1736280" cy="273240"/>
          </a:xfrm>
          <a:prstGeom prst="roundRect">
            <a:avLst>
              <a:gd name="adj" fmla="val 16667"/>
            </a:avLst>
          </a:prstGeom>
          <a:solidFill>
            <a:srgbClr val="e88d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rIns="3816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Payload = CAFE0001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548640" y="3001320"/>
            <a:ext cx="11093400" cy="68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pc="-1" strike="noStrike">
                <a:solidFill>
                  <a:srgbClr val="202a3a"/>
                </a:solidFill>
                <a:latin typeface="Calibri"/>
              </a:rPr>
              <a:t>a_data_in[7:0] repeats CA FE 00 01 - the ping's custom pattern.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2190680" cy="102312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Rectangle 2"/>
          <p:cNvSpPr/>
          <p:nvPr/>
        </p:nvSpPr>
        <p:spPr>
          <a:xfrm>
            <a:off x="0" y="1024200"/>
            <a:ext cx="12190680" cy="43200"/>
          </a:xfrm>
          <a:prstGeom prst="rect">
            <a:avLst/>
          </a:prstGeom>
          <a:solidFill>
            <a:srgbClr val="2e86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720" bIns="-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4491000" y="128160"/>
            <a:ext cx="2842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8eb8f5"/>
                </a:solidFill>
                <a:latin typeface="Calibri"/>
              </a:rPr>
              <a:t>TP3 - Communication Protocols - Lab 1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502920" y="219600"/>
            <a:ext cx="1081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GTKWave - request/reply handoff and pipeline latency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11512800" y="6473880"/>
            <a:ext cx="259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6f80"/>
                </a:solidFill>
                <a:latin typeface="Calibri"/>
              </a:rPr>
              <a:t>8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Picture 6" descr="Captura desde 2026-08-24 16-47-40.png"/>
          <p:cNvPicPr/>
          <p:nvPr/>
        </p:nvPicPr>
        <p:blipFill>
          <a:blip r:embed="rId1"/>
          <a:stretch/>
        </p:blipFill>
        <p:spPr>
          <a:xfrm>
            <a:off x="502920" y="1371600"/>
            <a:ext cx="11154600" cy="942840"/>
          </a:xfrm>
          <a:prstGeom prst="rect">
            <a:avLst/>
          </a:prstGeom>
          <a:ln w="15875">
            <a:solidFill>
              <a:srgbClr val="c7ccd1"/>
            </a:solidFill>
            <a:round/>
          </a:ln>
        </p:spPr>
      </p:pic>
      <p:sp>
        <p:nvSpPr>
          <p:cNvPr id="117" name="TextBox 7"/>
          <p:cNvSpPr/>
          <p:nvPr/>
        </p:nvSpPr>
        <p:spPr>
          <a:xfrm>
            <a:off x="548640" y="2909880"/>
            <a:ext cx="11093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pc="-1" strike="noStrike">
                <a:solidFill>
                  <a:srgbClr val="202a3a"/>
                </a:solidFill>
                <a:latin typeface="Calibri"/>
              </a:rPr>
              <a:t>a_data_in finishes the Request (...01, a_valid_in-&gt;0) right as b_data_in starts the Reply (02 CA EE 44 4A FA B6 CB DC 76 CC 85...).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2026-08-25T09:20:39Z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